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87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5DC0CD1-5DC0-4DB8-938F-681B5A1A12CA}" type="datetimeFigureOut">
              <a:rPr lang="en-IN" smtClean="0"/>
              <a:t>26-01-2026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66D23D21-B67B-4822-BBBD-1DE2EC403DD5}" type="slidenum">
              <a:rPr lang="en-IN" smtClean="0"/>
              <a:t>‹#›</a:t>
            </a:fld>
            <a:endParaRPr lang="en-IN"/>
          </a:p>
        </p:txBody>
      </p:sp>
    </p:spTree>
    <p:extLst>
      <p:ext uri="{BB962C8B-B14F-4D97-AF65-F5344CB8AC3E}">
        <p14:creationId xmlns:p14="http://schemas.microsoft.com/office/powerpoint/2010/main" val="1574218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D23D21-B67B-4822-BBBD-1DE2EC403DD5}" type="slidenum">
              <a:rPr lang="en-IN" smtClean="0"/>
              <a:t>5</a:t>
            </a:fld>
            <a:endParaRPr lang="en-IN"/>
          </a:p>
        </p:txBody>
      </p:sp>
    </p:spTree>
    <p:extLst>
      <p:ext uri="{BB962C8B-B14F-4D97-AF65-F5344CB8AC3E}">
        <p14:creationId xmlns:p14="http://schemas.microsoft.com/office/powerpoint/2010/main" val="2511029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800" b="1" i="0" u="heavy">
                <a:solidFill>
                  <a:srgbClr val="C00000"/>
                </a:solidFill>
                <a:latin typeface="Times New Roman"/>
                <a:cs typeface="Times New Roman"/>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12700">
              <a:lnSpc>
                <a:spcPts val="955"/>
              </a:lnSpc>
            </a:pPr>
            <a:r>
              <a:rPr spc="-10" dirty="0"/>
              <a:t>7/30/2025</a:t>
            </a:r>
          </a:p>
        </p:txBody>
      </p:sp>
      <p:sp>
        <p:nvSpPr>
          <p:cNvPr id="5" name="Holder 5"/>
          <p:cNvSpPr>
            <a:spLocks noGrp="1"/>
          </p:cNvSpPr>
          <p:nvPr>
            <p:ph type="dt" sz="half" idx="6"/>
          </p:nvPr>
        </p:nvSpPr>
        <p:spPr/>
        <p:txBody>
          <a:bodyPr lIns="0" tIns="0" rIns="0" bIns="0"/>
          <a:lstStyle>
            <a:lvl1pPr>
              <a:defRPr sz="900" b="0" i="0">
                <a:solidFill>
                  <a:srgbClr val="888888"/>
                </a:solidFill>
                <a:latin typeface="Calibri"/>
                <a:cs typeface="Calibri"/>
              </a:defRPr>
            </a:lvl1pPr>
          </a:lstStyle>
          <a:p>
            <a:pPr marL="25400">
              <a:lnSpc>
                <a:spcPts val="955"/>
              </a:lnSpc>
            </a:pPr>
            <a:r>
              <a:rPr spc="-10" dirty="0"/>
              <a:t>Computer</a:t>
            </a:r>
            <a:r>
              <a:rPr spc="5" dirty="0"/>
              <a:t> </a:t>
            </a:r>
            <a:r>
              <a:rPr spc="-10" dirty="0"/>
              <a:t>Engineering</a:t>
            </a:r>
            <a:r>
              <a:rPr spc="5" dirty="0"/>
              <a:t> </a:t>
            </a:r>
            <a:r>
              <a:rPr spc="-10" dirty="0"/>
              <a:t>Department</a:t>
            </a:r>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76200">
              <a:lnSpc>
                <a:spcPts val="95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heavy">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12700">
              <a:lnSpc>
                <a:spcPts val="955"/>
              </a:lnSpc>
            </a:pPr>
            <a:r>
              <a:rPr spc="-10" dirty="0"/>
              <a:t>7/30/2025</a:t>
            </a:r>
          </a:p>
        </p:txBody>
      </p:sp>
      <p:sp>
        <p:nvSpPr>
          <p:cNvPr id="5" name="Holder 5"/>
          <p:cNvSpPr>
            <a:spLocks noGrp="1"/>
          </p:cNvSpPr>
          <p:nvPr>
            <p:ph type="dt" sz="half" idx="6"/>
          </p:nvPr>
        </p:nvSpPr>
        <p:spPr/>
        <p:txBody>
          <a:bodyPr lIns="0" tIns="0" rIns="0" bIns="0"/>
          <a:lstStyle>
            <a:lvl1pPr>
              <a:defRPr sz="900" b="0" i="0">
                <a:solidFill>
                  <a:srgbClr val="888888"/>
                </a:solidFill>
                <a:latin typeface="Calibri"/>
                <a:cs typeface="Calibri"/>
              </a:defRPr>
            </a:lvl1pPr>
          </a:lstStyle>
          <a:p>
            <a:pPr marL="25400">
              <a:lnSpc>
                <a:spcPts val="955"/>
              </a:lnSpc>
            </a:pPr>
            <a:r>
              <a:rPr spc="-10" dirty="0"/>
              <a:t>Computer</a:t>
            </a:r>
            <a:r>
              <a:rPr spc="5" dirty="0"/>
              <a:t> </a:t>
            </a:r>
            <a:r>
              <a:rPr spc="-10" dirty="0"/>
              <a:t>Engineering</a:t>
            </a:r>
            <a:r>
              <a:rPr spc="5" dirty="0"/>
              <a:t> </a:t>
            </a:r>
            <a:r>
              <a:rPr spc="-10" dirty="0"/>
              <a:t>Department</a:t>
            </a:r>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76200">
              <a:lnSpc>
                <a:spcPts val="95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heavy">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12700">
              <a:lnSpc>
                <a:spcPts val="955"/>
              </a:lnSpc>
            </a:pPr>
            <a:r>
              <a:rPr spc="-10" dirty="0"/>
              <a:t>7/30/2025</a:t>
            </a:r>
          </a:p>
        </p:txBody>
      </p:sp>
      <p:sp>
        <p:nvSpPr>
          <p:cNvPr id="6" name="Holder 6"/>
          <p:cNvSpPr>
            <a:spLocks noGrp="1"/>
          </p:cNvSpPr>
          <p:nvPr>
            <p:ph type="dt" sz="half" idx="6"/>
          </p:nvPr>
        </p:nvSpPr>
        <p:spPr/>
        <p:txBody>
          <a:bodyPr lIns="0" tIns="0" rIns="0" bIns="0"/>
          <a:lstStyle>
            <a:lvl1pPr>
              <a:defRPr sz="900" b="0" i="0">
                <a:solidFill>
                  <a:srgbClr val="888888"/>
                </a:solidFill>
                <a:latin typeface="Calibri"/>
                <a:cs typeface="Calibri"/>
              </a:defRPr>
            </a:lvl1pPr>
          </a:lstStyle>
          <a:p>
            <a:pPr marL="25400">
              <a:lnSpc>
                <a:spcPts val="955"/>
              </a:lnSpc>
            </a:pPr>
            <a:r>
              <a:rPr spc="-10" dirty="0"/>
              <a:t>Computer</a:t>
            </a:r>
            <a:r>
              <a:rPr spc="5" dirty="0"/>
              <a:t> </a:t>
            </a:r>
            <a:r>
              <a:rPr spc="-10" dirty="0"/>
              <a:t>Engineering</a:t>
            </a:r>
            <a:r>
              <a:rPr spc="5" dirty="0"/>
              <a:t> </a:t>
            </a:r>
            <a:r>
              <a:rPr spc="-10" dirty="0"/>
              <a:t>Department</a:t>
            </a:r>
          </a:p>
        </p:txBody>
      </p:sp>
      <p:sp>
        <p:nvSpPr>
          <p:cNvPr id="7" name="Holder 7"/>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76200">
              <a:lnSpc>
                <a:spcPts val="95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heavy">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12700">
              <a:lnSpc>
                <a:spcPts val="955"/>
              </a:lnSpc>
            </a:pPr>
            <a:r>
              <a:rPr spc="-10" dirty="0"/>
              <a:t>7/30/2025</a:t>
            </a:r>
          </a:p>
        </p:txBody>
      </p:sp>
      <p:sp>
        <p:nvSpPr>
          <p:cNvPr id="4" name="Holder 4"/>
          <p:cNvSpPr>
            <a:spLocks noGrp="1"/>
          </p:cNvSpPr>
          <p:nvPr>
            <p:ph type="dt" sz="half" idx="6"/>
          </p:nvPr>
        </p:nvSpPr>
        <p:spPr/>
        <p:txBody>
          <a:bodyPr lIns="0" tIns="0" rIns="0" bIns="0"/>
          <a:lstStyle>
            <a:lvl1pPr>
              <a:defRPr sz="900" b="0" i="0">
                <a:solidFill>
                  <a:srgbClr val="888888"/>
                </a:solidFill>
                <a:latin typeface="Calibri"/>
                <a:cs typeface="Calibri"/>
              </a:defRPr>
            </a:lvl1p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Holder 5"/>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76200">
              <a:lnSpc>
                <a:spcPts val="95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12700">
              <a:lnSpc>
                <a:spcPts val="955"/>
              </a:lnSpc>
            </a:pPr>
            <a:r>
              <a:rPr spc="-10" dirty="0"/>
              <a:t>7/30/2025</a:t>
            </a:r>
          </a:p>
        </p:txBody>
      </p:sp>
      <p:sp>
        <p:nvSpPr>
          <p:cNvPr id="3" name="Holder 3"/>
          <p:cNvSpPr>
            <a:spLocks noGrp="1"/>
          </p:cNvSpPr>
          <p:nvPr>
            <p:ph type="dt" sz="half" idx="6"/>
          </p:nvPr>
        </p:nvSpPr>
        <p:spPr/>
        <p:txBody>
          <a:bodyPr lIns="0" tIns="0" rIns="0" bIns="0"/>
          <a:lstStyle>
            <a:lvl1pPr>
              <a:defRPr sz="900" b="0" i="0">
                <a:solidFill>
                  <a:srgbClr val="888888"/>
                </a:solidFill>
                <a:latin typeface="Calibri"/>
                <a:cs typeface="Calibri"/>
              </a:defRPr>
            </a:lvl1pPr>
          </a:lstStyle>
          <a:p>
            <a:pPr marL="25400">
              <a:lnSpc>
                <a:spcPts val="955"/>
              </a:lnSpc>
            </a:pPr>
            <a:r>
              <a:rPr spc="-10" dirty="0"/>
              <a:t>Computer</a:t>
            </a:r>
            <a:r>
              <a:rPr spc="5" dirty="0"/>
              <a:t> </a:t>
            </a:r>
            <a:r>
              <a:rPr spc="-10" dirty="0"/>
              <a:t>Engineering</a:t>
            </a:r>
            <a:r>
              <a:rPr spc="5" dirty="0"/>
              <a:t> </a:t>
            </a:r>
            <a:r>
              <a:rPr spc="-10" dirty="0"/>
              <a:t>Department</a:t>
            </a:r>
          </a:p>
        </p:txBody>
      </p:sp>
      <p:sp>
        <p:nvSpPr>
          <p:cNvPr id="4" name="Holder 4"/>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76200">
              <a:lnSpc>
                <a:spcPts val="955"/>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816257" y="3652"/>
            <a:ext cx="327742" cy="5139845"/>
          </a:xfrm>
          <a:prstGeom prst="rect">
            <a:avLst/>
          </a:prstGeom>
        </p:spPr>
      </p:pic>
      <p:pic>
        <p:nvPicPr>
          <p:cNvPr id="17" name="bg object 17"/>
          <p:cNvPicPr/>
          <p:nvPr/>
        </p:nvPicPr>
        <p:blipFill>
          <a:blip r:embed="rId8" cstate="print"/>
          <a:stretch>
            <a:fillRect/>
          </a:stretch>
        </p:blipFill>
        <p:spPr>
          <a:xfrm>
            <a:off x="413124" y="4236787"/>
            <a:ext cx="726407" cy="541438"/>
          </a:xfrm>
          <a:prstGeom prst="rect">
            <a:avLst/>
          </a:prstGeom>
        </p:spPr>
      </p:pic>
      <p:pic>
        <p:nvPicPr>
          <p:cNvPr id="18" name="bg object 18"/>
          <p:cNvPicPr/>
          <p:nvPr/>
        </p:nvPicPr>
        <p:blipFill>
          <a:blip r:embed="rId9" cstate="print"/>
          <a:stretch>
            <a:fillRect/>
          </a:stretch>
        </p:blipFill>
        <p:spPr>
          <a:xfrm>
            <a:off x="7046288" y="0"/>
            <a:ext cx="2097708" cy="414654"/>
          </a:xfrm>
          <a:prstGeom prst="rect">
            <a:avLst/>
          </a:prstGeom>
        </p:spPr>
      </p:pic>
      <p:pic>
        <p:nvPicPr>
          <p:cNvPr id="19" name="bg object 19"/>
          <p:cNvPicPr/>
          <p:nvPr/>
        </p:nvPicPr>
        <p:blipFill>
          <a:blip r:embed="rId10" cstate="print"/>
          <a:stretch>
            <a:fillRect/>
          </a:stretch>
        </p:blipFill>
        <p:spPr>
          <a:xfrm>
            <a:off x="214445" y="114300"/>
            <a:ext cx="751667" cy="772566"/>
          </a:xfrm>
          <a:prstGeom prst="rect">
            <a:avLst/>
          </a:prstGeom>
        </p:spPr>
      </p:pic>
      <p:sp>
        <p:nvSpPr>
          <p:cNvPr id="2" name="Holder 2"/>
          <p:cNvSpPr>
            <a:spLocks noGrp="1"/>
          </p:cNvSpPr>
          <p:nvPr>
            <p:ph type="title"/>
          </p:nvPr>
        </p:nvSpPr>
        <p:spPr>
          <a:xfrm>
            <a:off x="1054346" y="103651"/>
            <a:ext cx="6779043" cy="986366"/>
          </a:xfrm>
          <a:prstGeom prst="rect">
            <a:avLst/>
          </a:prstGeom>
        </p:spPr>
        <p:txBody>
          <a:bodyPr wrap="square" lIns="0" tIns="0" rIns="0" bIns="0">
            <a:spAutoFit/>
          </a:bodyPr>
          <a:lstStyle>
            <a:lvl1pPr>
              <a:defRPr sz="2800" b="1" i="0" u="heavy">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457200" y="1183005"/>
            <a:ext cx="822960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70718" y="4862099"/>
            <a:ext cx="518794" cy="139700"/>
          </a:xfrm>
          <a:prstGeom prst="rect">
            <a:avLst/>
          </a:prstGeom>
        </p:spPr>
        <p:txBody>
          <a:bodyPr wrap="square" lIns="0" tIns="0" rIns="0" bIns="0">
            <a:spAutoFit/>
          </a:bodyPr>
          <a:lstStyle>
            <a:lvl1pPr>
              <a:defRPr sz="900" b="0" i="0">
                <a:solidFill>
                  <a:srgbClr val="888888"/>
                </a:solidFill>
                <a:latin typeface="Calibri"/>
                <a:cs typeface="Calibri"/>
              </a:defRPr>
            </a:lvl1pPr>
          </a:lstStyle>
          <a:p>
            <a:pPr marL="12700">
              <a:lnSpc>
                <a:spcPts val="955"/>
              </a:lnSpc>
            </a:pPr>
            <a:r>
              <a:rPr spc="-10" dirty="0"/>
              <a:t>7/30/2025</a:t>
            </a:r>
          </a:p>
        </p:txBody>
      </p:sp>
      <p:sp>
        <p:nvSpPr>
          <p:cNvPr id="5" name="Holder 5"/>
          <p:cNvSpPr>
            <a:spLocks noGrp="1"/>
          </p:cNvSpPr>
          <p:nvPr>
            <p:ph type="dt" sz="half" idx="6"/>
          </p:nvPr>
        </p:nvSpPr>
        <p:spPr>
          <a:xfrm>
            <a:off x="3731981" y="4862099"/>
            <a:ext cx="1671320" cy="139700"/>
          </a:xfrm>
          <a:prstGeom prst="rect">
            <a:avLst/>
          </a:prstGeom>
        </p:spPr>
        <p:txBody>
          <a:bodyPr wrap="square" lIns="0" tIns="0" rIns="0" bIns="0">
            <a:spAutoFit/>
          </a:bodyPr>
          <a:lstStyle>
            <a:lvl1pPr>
              <a:defRPr sz="900" b="0" i="0">
                <a:solidFill>
                  <a:srgbClr val="888888"/>
                </a:solidFill>
                <a:latin typeface="Calibri"/>
                <a:cs typeface="Calibri"/>
              </a:defRPr>
            </a:lvl1pPr>
          </a:lstStyle>
          <a:p>
            <a:pPr marL="25400">
              <a:lnSpc>
                <a:spcPts val="955"/>
              </a:lnSpc>
            </a:pPr>
            <a:r>
              <a:rPr spc="-10" dirty="0"/>
              <a:t>Computer</a:t>
            </a:r>
            <a:r>
              <a:rPr spc="5" dirty="0"/>
              <a:t> </a:t>
            </a:r>
            <a:r>
              <a:rPr spc="-10" dirty="0"/>
              <a:t>Engineering</a:t>
            </a:r>
            <a:r>
              <a:rPr spc="5" dirty="0"/>
              <a:t> </a:t>
            </a:r>
            <a:r>
              <a:rPr spc="-10" dirty="0"/>
              <a:t>Department</a:t>
            </a:r>
          </a:p>
        </p:txBody>
      </p:sp>
      <p:sp>
        <p:nvSpPr>
          <p:cNvPr id="6" name="Holder 6"/>
          <p:cNvSpPr>
            <a:spLocks noGrp="1"/>
          </p:cNvSpPr>
          <p:nvPr>
            <p:ph type="sldNum" sz="quarter" idx="7"/>
          </p:nvPr>
        </p:nvSpPr>
        <p:spPr>
          <a:xfrm>
            <a:off x="8216900" y="4862098"/>
            <a:ext cx="269240" cy="139701"/>
          </a:xfrm>
          <a:prstGeom prst="rect">
            <a:avLst/>
          </a:prstGeom>
        </p:spPr>
        <p:txBody>
          <a:bodyPr wrap="square" lIns="0" tIns="0" rIns="0" bIns="0">
            <a:spAutoFit/>
          </a:bodyPr>
          <a:lstStyle>
            <a:lvl1pPr>
              <a:defRPr sz="900" b="0" i="0">
                <a:solidFill>
                  <a:srgbClr val="888888"/>
                </a:solidFill>
                <a:latin typeface="Calibri"/>
                <a:cs typeface="Calibri"/>
              </a:defRPr>
            </a:lvl1pPr>
          </a:lstStyle>
          <a:p>
            <a:pPr marL="76200">
              <a:lnSpc>
                <a:spcPts val="95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800600"/>
            <a:ext cx="9143999" cy="342898"/>
          </a:xfrm>
          <a:prstGeom prst="rect">
            <a:avLst/>
          </a:prstGeom>
        </p:spPr>
      </p:pic>
      <p:pic>
        <p:nvPicPr>
          <p:cNvPr id="3" name="object 3"/>
          <p:cNvPicPr/>
          <p:nvPr/>
        </p:nvPicPr>
        <p:blipFill>
          <a:blip r:embed="rId3" cstate="print"/>
          <a:stretch>
            <a:fillRect/>
          </a:stretch>
        </p:blipFill>
        <p:spPr>
          <a:xfrm>
            <a:off x="8133346" y="249511"/>
            <a:ext cx="726407" cy="541438"/>
          </a:xfrm>
          <a:prstGeom prst="rect">
            <a:avLst/>
          </a:prstGeom>
        </p:spPr>
      </p:pic>
      <p:pic>
        <p:nvPicPr>
          <p:cNvPr id="4" name="object 4"/>
          <p:cNvPicPr/>
          <p:nvPr/>
        </p:nvPicPr>
        <p:blipFill>
          <a:blip r:embed="rId4" cstate="print"/>
          <a:stretch>
            <a:fillRect/>
          </a:stretch>
        </p:blipFill>
        <p:spPr>
          <a:xfrm>
            <a:off x="0" y="4541041"/>
            <a:ext cx="430286" cy="259559"/>
          </a:xfrm>
          <a:prstGeom prst="rect">
            <a:avLst/>
          </a:prstGeom>
        </p:spPr>
      </p:pic>
      <p:grpSp>
        <p:nvGrpSpPr>
          <p:cNvPr id="5" name="object 5"/>
          <p:cNvGrpSpPr/>
          <p:nvPr/>
        </p:nvGrpSpPr>
        <p:grpSpPr>
          <a:xfrm>
            <a:off x="82866" y="117475"/>
            <a:ext cx="4848225" cy="778510"/>
            <a:chOff x="82866" y="117475"/>
            <a:chExt cx="4848225" cy="778510"/>
          </a:xfrm>
        </p:grpSpPr>
        <p:pic>
          <p:nvPicPr>
            <p:cNvPr id="6" name="object 6"/>
            <p:cNvPicPr/>
            <p:nvPr/>
          </p:nvPicPr>
          <p:blipFill>
            <a:blip r:embed="rId5" cstate="print"/>
            <a:stretch>
              <a:fillRect/>
            </a:stretch>
          </p:blipFill>
          <p:spPr>
            <a:xfrm>
              <a:off x="268819" y="128831"/>
              <a:ext cx="3143125" cy="541442"/>
            </a:xfrm>
            <a:prstGeom prst="rect">
              <a:avLst/>
            </a:prstGeom>
          </p:spPr>
        </p:pic>
        <p:pic>
          <p:nvPicPr>
            <p:cNvPr id="7" name="object 7"/>
            <p:cNvPicPr/>
            <p:nvPr/>
          </p:nvPicPr>
          <p:blipFill>
            <a:blip r:embed="rId6" cstate="print"/>
            <a:stretch>
              <a:fillRect/>
            </a:stretch>
          </p:blipFill>
          <p:spPr>
            <a:xfrm>
              <a:off x="82866" y="117475"/>
              <a:ext cx="4848224" cy="778509"/>
            </a:xfrm>
            <a:prstGeom prst="rect">
              <a:avLst/>
            </a:prstGeom>
          </p:spPr>
        </p:pic>
      </p:grpSp>
      <p:sp>
        <p:nvSpPr>
          <p:cNvPr id="8" name="object 8"/>
          <p:cNvSpPr txBox="1">
            <a:spLocks noGrp="1"/>
          </p:cNvSpPr>
          <p:nvPr>
            <p:ph type="title"/>
          </p:nvPr>
        </p:nvSpPr>
        <p:spPr>
          <a:xfrm>
            <a:off x="2273843" y="1214999"/>
            <a:ext cx="4594225" cy="695960"/>
          </a:xfrm>
          <a:prstGeom prst="rect">
            <a:avLst/>
          </a:prstGeom>
        </p:spPr>
        <p:txBody>
          <a:bodyPr vert="horz" wrap="square" lIns="0" tIns="12700" rIns="0" bIns="0" rtlCol="0">
            <a:spAutoFit/>
          </a:bodyPr>
          <a:lstStyle/>
          <a:p>
            <a:pPr marL="55244" marR="5080" indent="-43180">
              <a:lnSpc>
                <a:spcPct val="100000"/>
              </a:lnSpc>
              <a:spcBef>
                <a:spcPts val="100"/>
              </a:spcBef>
            </a:pPr>
            <a:r>
              <a:rPr sz="2200" u="heavy" dirty="0">
                <a:solidFill>
                  <a:srgbClr val="052358"/>
                </a:solidFill>
                <a:uFill>
                  <a:solidFill>
                    <a:srgbClr val="052358"/>
                  </a:solidFill>
                </a:uFill>
              </a:rPr>
              <a:t>Department</a:t>
            </a:r>
            <a:r>
              <a:rPr sz="2200" u="heavy" spc="-85" dirty="0">
                <a:solidFill>
                  <a:srgbClr val="052358"/>
                </a:solidFill>
                <a:uFill>
                  <a:solidFill>
                    <a:srgbClr val="052358"/>
                  </a:solidFill>
                </a:uFill>
              </a:rPr>
              <a:t> </a:t>
            </a:r>
            <a:r>
              <a:rPr sz="2200" u="heavy" dirty="0">
                <a:solidFill>
                  <a:srgbClr val="052358"/>
                </a:solidFill>
                <a:uFill>
                  <a:solidFill>
                    <a:srgbClr val="052358"/>
                  </a:solidFill>
                </a:uFill>
              </a:rPr>
              <a:t>of</a:t>
            </a:r>
            <a:r>
              <a:rPr sz="2200" u="heavy" spc="-80" dirty="0">
                <a:solidFill>
                  <a:srgbClr val="052358"/>
                </a:solidFill>
                <a:uFill>
                  <a:solidFill>
                    <a:srgbClr val="052358"/>
                  </a:solidFill>
                </a:uFill>
              </a:rPr>
              <a:t> </a:t>
            </a:r>
            <a:r>
              <a:rPr sz="2200" u="heavy" dirty="0">
                <a:solidFill>
                  <a:srgbClr val="052358"/>
                </a:solidFill>
                <a:uFill>
                  <a:solidFill>
                    <a:srgbClr val="052358"/>
                  </a:solidFill>
                </a:uFill>
              </a:rPr>
              <a:t>Computer</a:t>
            </a:r>
            <a:r>
              <a:rPr sz="2200" u="heavy" spc="-85" dirty="0">
                <a:solidFill>
                  <a:srgbClr val="052358"/>
                </a:solidFill>
                <a:uFill>
                  <a:solidFill>
                    <a:srgbClr val="052358"/>
                  </a:solidFill>
                </a:uFill>
              </a:rPr>
              <a:t> </a:t>
            </a:r>
            <a:r>
              <a:rPr sz="2200" u="heavy" spc="-10" dirty="0">
                <a:solidFill>
                  <a:srgbClr val="052358"/>
                </a:solidFill>
                <a:uFill>
                  <a:solidFill>
                    <a:srgbClr val="052358"/>
                  </a:solidFill>
                </a:uFill>
              </a:rPr>
              <a:t>Engineering</a:t>
            </a:r>
            <a:r>
              <a:rPr sz="2200" u="none" spc="-10" dirty="0">
                <a:solidFill>
                  <a:srgbClr val="052358"/>
                </a:solidFill>
              </a:rPr>
              <a:t> </a:t>
            </a:r>
            <a:r>
              <a:rPr sz="2200" u="heavy" dirty="0">
                <a:solidFill>
                  <a:srgbClr val="052358"/>
                </a:solidFill>
                <a:uFill>
                  <a:solidFill>
                    <a:srgbClr val="052358"/>
                  </a:solidFill>
                </a:uFill>
              </a:rPr>
              <a:t>Academic</a:t>
            </a:r>
            <a:r>
              <a:rPr sz="2200" u="heavy" spc="-55" dirty="0">
                <a:solidFill>
                  <a:srgbClr val="052358"/>
                </a:solidFill>
                <a:uFill>
                  <a:solidFill>
                    <a:srgbClr val="052358"/>
                  </a:solidFill>
                </a:uFill>
              </a:rPr>
              <a:t> </a:t>
            </a:r>
            <a:r>
              <a:rPr sz="2200" u="heavy" dirty="0">
                <a:solidFill>
                  <a:srgbClr val="052358"/>
                </a:solidFill>
                <a:uFill>
                  <a:solidFill>
                    <a:srgbClr val="052358"/>
                  </a:solidFill>
                </a:uFill>
              </a:rPr>
              <a:t>Year</a:t>
            </a:r>
            <a:r>
              <a:rPr sz="2200" u="heavy" spc="-50" dirty="0">
                <a:solidFill>
                  <a:srgbClr val="052358"/>
                </a:solidFill>
                <a:uFill>
                  <a:solidFill>
                    <a:srgbClr val="052358"/>
                  </a:solidFill>
                </a:uFill>
              </a:rPr>
              <a:t> </a:t>
            </a:r>
            <a:r>
              <a:rPr sz="2200" u="heavy" spc="-20" dirty="0">
                <a:solidFill>
                  <a:srgbClr val="052358"/>
                </a:solidFill>
                <a:uFill>
                  <a:solidFill>
                    <a:srgbClr val="052358"/>
                  </a:solidFill>
                </a:uFill>
              </a:rPr>
              <a:t>2025-</a:t>
            </a:r>
            <a:r>
              <a:rPr sz="2200" u="heavy" dirty="0">
                <a:solidFill>
                  <a:srgbClr val="052358"/>
                </a:solidFill>
                <a:uFill>
                  <a:solidFill>
                    <a:srgbClr val="052358"/>
                  </a:solidFill>
                </a:uFill>
              </a:rPr>
              <a:t>2026</a:t>
            </a:r>
            <a:r>
              <a:rPr sz="2200" u="heavy" spc="-45" dirty="0">
                <a:solidFill>
                  <a:srgbClr val="052358"/>
                </a:solidFill>
                <a:uFill>
                  <a:solidFill>
                    <a:srgbClr val="052358"/>
                  </a:solidFill>
                </a:uFill>
              </a:rPr>
              <a:t> </a:t>
            </a:r>
            <a:r>
              <a:rPr sz="2200" u="heavy" dirty="0">
                <a:solidFill>
                  <a:srgbClr val="052358"/>
                </a:solidFill>
                <a:uFill>
                  <a:solidFill>
                    <a:srgbClr val="052358"/>
                  </a:solidFill>
                </a:uFill>
              </a:rPr>
              <a:t>(Odd</a:t>
            </a:r>
            <a:r>
              <a:rPr sz="2200" u="heavy" spc="-50" dirty="0">
                <a:solidFill>
                  <a:srgbClr val="052358"/>
                </a:solidFill>
                <a:uFill>
                  <a:solidFill>
                    <a:srgbClr val="052358"/>
                  </a:solidFill>
                </a:uFill>
              </a:rPr>
              <a:t> </a:t>
            </a:r>
            <a:r>
              <a:rPr sz="2200" u="heavy" spc="-20" dirty="0">
                <a:solidFill>
                  <a:srgbClr val="052358"/>
                </a:solidFill>
                <a:uFill>
                  <a:solidFill>
                    <a:srgbClr val="052358"/>
                  </a:solidFill>
                </a:uFill>
              </a:rPr>
              <a:t>Sem)</a:t>
            </a:r>
            <a:endParaRPr sz="2200" dirty="0"/>
          </a:p>
        </p:txBody>
      </p:sp>
      <p:sp>
        <p:nvSpPr>
          <p:cNvPr id="11" name="object 11"/>
          <p:cNvSpPr txBox="1">
            <a:spLocks noGrp="1"/>
          </p:cNvSpPr>
          <p:nvPr>
            <p:ph type="dt" sz="half" idx="6"/>
          </p:nvPr>
        </p:nvSpPr>
        <p:spPr>
          <a:xfrm>
            <a:off x="3735295" y="4666156"/>
            <a:ext cx="1671320" cy="139700"/>
          </a:xfrm>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1</a:t>
            </a:fld>
            <a:endParaRPr spc="-50" dirty="0"/>
          </a:p>
        </p:txBody>
      </p:sp>
      <p:sp>
        <p:nvSpPr>
          <p:cNvPr id="9" name="object 9"/>
          <p:cNvSpPr txBox="1"/>
          <p:nvPr/>
        </p:nvSpPr>
        <p:spPr>
          <a:xfrm>
            <a:off x="671467" y="2038297"/>
            <a:ext cx="7828280" cy="2505814"/>
          </a:xfrm>
          <a:prstGeom prst="rect">
            <a:avLst/>
          </a:prstGeom>
        </p:spPr>
        <p:txBody>
          <a:bodyPr vert="horz" wrap="square" lIns="0" tIns="12700" rIns="0" bIns="0" rtlCol="0">
            <a:spAutoFit/>
          </a:bodyPr>
          <a:lstStyle/>
          <a:p>
            <a:pPr marL="1270" algn="ctr">
              <a:lnSpc>
                <a:spcPct val="100000"/>
              </a:lnSpc>
              <a:spcBef>
                <a:spcPts val="100"/>
              </a:spcBef>
            </a:pPr>
            <a:r>
              <a:rPr lang="en-US" sz="2400" b="1" u="sng" dirty="0">
                <a:solidFill>
                  <a:srgbClr val="FF0000"/>
                </a:solidFill>
              </a:rPr>
              <a:t>Guardrail AI: A Scalable Governance Engine for Real-Time Model Trust and Accountability</a:t>
            </a:r>
            <a:r>
              <a:rPr lang="en-IN" sz="2000" b="1" u="sng" dirty="0">
                <a:solidFill>
                  <a:srgbClr val="FF0000"/>
                </a:solidFill>
                <a:uFill>
                  <a:solidFill>
                    <a:srgbClr val="C00000"/>
                  </a:solidFill>
                </a:uFill>
                <a:latin typeface="Times New Roman"/>
                <a:cs typeface="Times New Roman"/>
              </a:rPr>
              <a:t>:</a:t>
            </a:r>
            <a:endParaRPr sz="2000" b="1" u="sng" dirty="0">
              <a:solidFill>
                <a:srgbClr val="FF0000"/>
              </a:solidFill>
              <a:latin typeface="Times New Roman"/>
              <a:cs typeface="Times New Roman"/>
            </a:endParaRPr>
          </a:p>
          <a:p>
            <a:pPr marL="12700" marR="5080" indent="635" algn="ctr">
              <a:lnSpc>
                <a:spcPct val="100000"/>
              </a:lnSpc>
              <a:spcBef>
                <a:spcPts val="1525"/>
              </a:spcBef>
            </a:pPr>
            <a:r>
              <a:rPr lang="en-IN" sz="1500" b="1" dirty="0">
                <a:solidFill>
                  <a:srgbClr val="C00000"/>
                </a:solidFill>
                <a:latin typeface="Times New Roman"/>
                <a:cs typeface="Times New Roman"/>
              </a:rPr>
              <a:t>Arya </a:t>
            </a:r>
            <a:r>
              <a:rPr lang="en-IN" sz="1500" b="1" dirty="0" err="1">
                <a:solidFill>
                  <a:srgbClr val="C00000"/>
                </a:solidFill>
                <a:latin typeface="Times New Roman"/>
                <a:cs typeface="Times New Roman"/>
              </a:rPr>
              <a:t>Shewale</a:t>
            </a:r>
            <a:r>
              <a:rPr lang="en-IN" sz="1500" b="1" dirty="0">
                <a:solidFill>
                  <a:srgbClr val="C00000"/>
                </a:solidFill>
                <a:latin typeface="Times New Roman"/>
                <a:cs typeface="Times New Roman"/>
              </a:rPr>
              <a:t> </a:t>
            </a:r>
            <a:r>
              <a:rPr sz="1500" b="1" dirty="0">
                <a:solidFill>
                  <a:srgbClr val="C00000"/>
                </a:solidFill>
                <a:latin typeface="Times New Roman"/>
                <a:cs typeface="Times New Roman"/>
              </a:rPr>
              <a:t>(</a:t>
            </a:r>
            <a:r>
              <a:rPr lang="en-IN" sz="1500" b="1" dirty="0">
                <a:solidFill>
                  <a:srgbClr val="C00000"/>
                </a:solidFill>
                <a:latin typeface="Times New Roman"/>
                <a:cs typeface="Times New Roman"/>
              </a:rPr>
              <a:t>B-37</a:t>
            </a:r>
            <a:r>
              <a:rPr sz="1500" b="1" spc="-25" dirty="0">
                <a:solidFill>
                  <a:srgbClr val="C00000"/>
                </a:solidFill>
                <a:latin typeface="Times New Roman"/>
                <a:cs typeface="Times New Roman"/>
              </a:rPr>
              <a:t>) </a:t>
            </a:r>
            <a:endParaRPr lang="en-IN" sz="1500" b="1" spc="-25" dirty="0">
              <a:solidFill>
                <a:srgbClr val="C00000"/>
              </a:solidFill>
              <a:latin typeface="Times New Roman"/>
              <a:cs typeface="Times New Roman"/>
            </a:endParaRPr>
          </a:p>
          <a:p>
            <a:pPr marL="12700" marR="5080" indent="635" algn="ctr">
              <a:lnSpc>
                <a:spcPct val="100000"/>
              </a:lnSpc>
              <a:spcBef>
                <a:spcPts val="1525"/>
              </a:spcBef>
            </a:pPr>
            <a:r>
              <a:rPr lang="en-IN" sz="1500" b="1" spc="-25" dirty="0">
                <a:solidFill>
                  <a:srgbClr val="C00000"/>
                </a:solidFill>
                <a:latin typeface="Times New Roman"/>
                <a:cs typeface="Times New Roman"/>
              </a:rPr>
              <a:t>Bhumika Singh (B-39)</a:t>
            </a:r>
          </a:p>
          <a:p>
            <a:pPr marL="12700" marR="5080" indent="635" algn="ctr">
              <a:lnSpc>
                <a:spcPct val="100000"/>
              </a:lnSpc>
              <a:spcBef>
                <a:spcPts val="1525"/>
              </a:spcBef>
            </a:pPr>
            <a:r>
              <a:rPr lang="en-IN" sz="1500" b="1" spc="-25" dirty="0" err="1">
                <a:solidFill>
                  <a:srgbClr val="C00000"/>
                </a:solidFill>
                <a:latin typeface="Times New Roman"/>
                <a:cs typeface="Times New Roman"/>
              </a:rPr>
              <a:t>Qudsiya</a:t>
            </a:r>
            <a:r>
              <a:rPr lang="en-IN" sz="1500" b="1" spc="-25" dirty="0">
                <a:solidFill>
                  <a:srgbClr val="C00000"/>
                </a:solidFill>
                <a:latin typeface="Times New Roman"/>
                <a:cs typeface="Times New Roman"/>
              </a:rPr>
              <a:t> Siddique (B-38)</a:t>
            </a:r>
          </a:p>
          <a:p>
            <a:pPr marL="12700" marR="5080" indent="635" algn="ctr">
              <a:lnSpc>
                <a:spcPct val="100000"/>
              </a:lnSpc>
              <a:spcBef>
                <a:spcPts val="1525"/>
              </a:spcBef>
            </a:pPr>
            <a:r>
              <a:rPr sz="1900" b="1" dirty="0">
                <a:solidFill>
                  <a:srgbClr val="002060"/>
                </a:solidFill>
                <a:latin typeface="Times New Roman"/>
                <a:cs typeface="Times New Roman"/>
              </a:rPr>
              <a:t>Name</a:t>
            </a:r>
            <a:r>
              <a:rPr sz="1900" b="1" spc="-45" dirty="0">
                <a:solidFill>
                  <a:srgbClr val="002060"/>
                </a:solidFill>
                <a:latin typeface="Times New Roman"/>
                <a:cs typeface="Times New Roman"/>
              </a:rPr>
              <a:t> </a:t>
            </a:r>
            <a:r>
              <a:rPr sz="1900" b="1" dirty="0">
                <a:solidFill>
                  <a:srgbClr val="002060"/>
                </a:solidFill>
                <a:latin typeface="Times New Roman"/>
                <a:cs typeface="Times New Roman"/>
              </a:rPr>
              <a:t>of</a:t>
            </a:r>
            <a:r>
              <a:rPr sz="1900" b="1" spc="-40" dirty="0">
                <a:solidFill>
                  <a:srgbClr val="002060"/>
                </a:solidFill>
                <a:latin typeface="Times New Roman"/>
                <a:cs typeface="Times New Roman"/>
              </a:rPr>
              <a:t> </a:t>
            </a:r>
            <a:r>
              <a:rPr sz="1900" b="1" dirty="0">
                <a:solidFill>
                  <a:srgbClr val="002060"/>
                </a:solidFill>
                <a:latin typeface="Times New Roman"/>
                <a:cs typeface="Times New Roman"/>
              </a:rPr>
              <a:t>the</a:t>
            </a:r>
            <a:r>
              <a:rPr sz="1900" b="1" spc="-45" dirty="0">
                <a:solidFill>
                  <a:srgbClr val="002060"/>
                </a:solidFill>
                <a:latin typeface="Times New Roman"/>
                <a:cs typeface="Times New Roman"/>
              </a:rPr>
              <a:t> </a:t>
            </a:r>
            <a:r>
              <a:rPr sz="1900" b="1" dirty="0">
                <a:solidFill>
                  <a:srgbClr val="002060"/>
                </a:solidFill>
                <a:latin typeface="Times New Roman"/>
                <a:cs typeface="Times New Roman"/>
              </a:rPr>
              <a:t>Guide:-</a:t>
            </a:r>
            <a:r>
              <a:rPr lang="en-IN" sz="1900" b="1" dirty="0">
                <a:solidFill>
                  <a:srgbClr val="002060"/>
                </a:solidFill>
                <a:latin typeface="Times New Roman"/>
                <a:cs typeface="Times New Roman"/>
              </a:rPr>
              <a:t>Ms. Nisha </a:t>
            </a:r>
            <a:r>
              <a:rPr lang="en-IN" sz="1900" b="1" dirty="0" err="1">
                <a:solidFill>
                  <a:srgbClr val="002060"/>
                </a:solidFill>
                <a:latin typeface="Times New Roman"/>
                <a:cs typeface="Times New Roman"/>
              </a:rPr>
              <a:t>Vanjari</a:t>
            </a:r>
            <a:endParaRPr sz="19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16257" y="3652"/>
            <a:ext cx="327742" cy="5139845"/>
          </a:xfrm>
          <a:prstGeom prst="rect">
            <a:avLst/>
          </a:prstGeom>
        </p:spPr>
      </p:pic>
      <p:pic>
        <p:nvPicPr>
          <p:cNvPr id="3" name="object 3"/>
          <p:cNvPicPr/>
          <p:nvPr/>
        </p:nvPicPr>
        <p:blipFill>
          <a:blip r:embed="rId3" cstate="print"/>
          <a:stretch>
            <a:fillRect/>
          </a:stretch>
        </p:blipFill>
        <p:spPr>
          <a:xfrm>
            <a:off x="413124" y="4229411"/>
            <a:ext cx="726407" cy="541438"/>
          </a:xfrm>
          <a:prstGeom prst="rect">
            <a:avLst/>
          </a:prstGeom>
        </p:spPr>
      </p:pic>
      <p:pic>
        <p:nvPicPr>
          <p:cNvPr id="4" name="object 4"/>
          <p:cNvPicPr/>
          <p:nvPr/>
        </p:nvPicPr>
        <p:blipFill>
          <a:blip r:embed="rId4" cstate="print"/>
          <a:stretch>
            <a:fillRect/>
          </a:stretch>
        </p:blipFill>
        <p:spPr>
          <a:xfrm>
            <a:off x="7025815" y="0"/>
            <a:ext cx="2118184" cy="414654"/>
          </a:xfrm>
          <a:prstGeom prst="rect">
            <a:avLst/>
          </a:prstGeom>
        </p:spPr>
      </p:pic>
      <p:sp>
        <p:nvSpPr>
          <p:cNvPr id="5" name="object 5"/>
          <p:cNvSpPr txBox="1"/>
          <p:nvPr/>
        </p:nvSpPr>
        <p:spPr>
          <a:xfrm>
            <a:off x="1262856" y="590806"/>
            <a:ext cx="4540250" cy="4160520"/>
          </a:xfrm>
          <a:prstGeom prst="rect">
            <a:avLst/>
          </a:prstGeom>
        </p:spPr>
        <p:txBody>
          <a:bodyPr vert="horz" wrap="square" lIns="0" tIns="114300" rIns="0" bIns="0" rtlCol="0">
            <a:spAutoFit/>
          </a:bodyPr>
          <a:lstStyle/>
          <a:p>
            <a:pPr marL="476884" indent="-464184">
              <a:lnSpc>
                <a:spcPct val="100000"/>
              </a:lnSpc>
              <a:spcBef>
                <a:spcPts val="900"/>
              </a:spcBef>
              <a:buClr>
                <a:srgbClr val="C00000"/>
              </a:buClr>
              <a:buFont typeface="SimSun-ExtB"/>
              <a:buChar char="❑"/>
              <a:tabLst>
                <a:tab pos="476884" algn="l"/>
              </a:tabLst>
            </a:pPr>
            <a:r>
              <a:rPr sz="1800" b="1" spc="-10" dirty="0">
                <a:solidFill>
                  <a:srgbClr val="052358"/>
                </a:solidFill>
                <a:latin typeface="Times New Roman"/>
                <a:cs typeface="Times New Roman"/>
              </a:rPr>
              <a:t>Introduction</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dirty="0">
                <a:solidFill>
                  <a:srgbClr val="052358"/>
                </a:solidFill>
                <a:latin typeface="Times New Roman"/>
                <a:cs typeface="Times New Roman"/>
              </a:rPr>
              <a:t>Problem</a:t>
            </a:r>
            <a:r>
              <a:rPr sz="1800" b="1" spc="-70" dirty="0">
                <a:solidFill>
                  <a:srgbClr val="052358"/>
                </a:solidFill>
                <a:latin typeface="Times New Roman"/>
                <a:cs typeface="Times New Roman"/>
              </a:rPr>
              <a:t> </a:t>
            </a:r>
            <a:r>
              <a:rPr sz="1800" b="1" spc="-10" dirty="0">
                <a:solidFill>
                  <a:srgbClr val="052358"/>
                </a:solidFill>
                <a:latin typeface="Times New Roman"/>
                <a:cs typeface="Times New Roman"/>
              </a:rPr>
              <a:t>Statement</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spc="-10" dirty="0">
                <a:solidFill>
                  <a:srgbClr val="052358"/>
                </a:solidFill>
                <a:latin typeface="Times New Roman"/>
                <a:cs typeface="Times New Roman"/>
              </a:rPr>
              <a:t>Objective</a:t>
            </a:r>
            <a:r>
              <a:rPr sz="1800" b="1" spc="-25" dirty="0">
                <a:solidFill>
                  <a:srgbClr val="052358"/>
                </a:solidFill>
                <a:latin typeface="Times New Roman"/>
                <a:cs typeface="Times New Roman"/>
              </a:rPr>
              <a:t> </a:t>
            </a:r>
            <a:r>
              <a:rPr sz="1800" b="1" dirty="0">
                <a:solidFill>
                  <a:srgbClr val="052358"/>
                </a:solidFill>
                <a:latin typeface="Times New Roman"/>
                <a:cs typeface="Times New Roman"/>
              </a:rPr>
              <a:t>and</a:t>
            </a:r>
            <a:r>
              <a:rPr sz="1800" b="1" spc="-20" dirty="0">
                <a:solidFill>
                  <a:srgbClr val="052358"/>
                </a:solidFill>
                <a:latin typeface="Times New Roman"/>
                <a:cs typeface="Times New Roman"/>
              </a:rPr>
              <a:t> </a:t>
            </a:r>
            <a:r>
              <a:rPr sz="1800" b="1" spc="-10" dirty="0">
                <a:solidFill>
                  <a:srgbClr val="052358"/>
                </a:solidFill>
                <a:latin typeface="Times New Roman"/>
                <a:cs typeface="Times New Roman"/>
              </a:rPr>
              <a:t>Scope</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spc="-10" dirty="0">
                <a:solidFill>
                  <a:srgbClr val="052358"/>
                </a:solidFill>
                <a:latin typeface="Times New Roman"/>
                <a:cs typeface="Times New Roman"/>
              </a:rPr>
              <a:t>Literature</a:t>
            </a:r>
            <a:r>
              <a:rPr sz="1800" b="1" spc="-30" dirty="0">
                <a:solidFill>
                  <a:srgbClr val="052358"/>
                </a:solidFill>
                <a:latin typeface="Times New Roman"/>
                <a:cs typeface="Times New Roman"/>
              </a:rPr>
              <a:t> </a:t>
            </a:r>
            <a:r>
              <a:rPr sz="1800" b="1" spc="-10" dirty="0">
                <a:solidFill>
                  <a:srgbClr val="052358"/>
                </a:solidFill>
                <a:latin typeface="Times New Roman"/>
                <a:cs typeface="Times New Roman"/>
              </a:rPr>
              <a:t>Survey</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dirty="0">
                <a:solidFill>
                  <a:srgbClr val="052358"/>
                </a:solidFill>
                <a:latin typeface="Times New Roman"/>
                <a:cs typeface="Times New Roman"/>
              </a:rPr>
              <a:t>Proposed</a:t>
            </a:r>
            <a:r>
              <a:rPr sz="1800" b="1" spc="-40" dirty="0">
                <a:solidFill>
                  <a:srgbClr val="052358"/>
                </a:solidFill>
                <a:latin typeface="Times New Roman"/>
                <a:cs typeface="Times New Roman"/>
              </a:rPr>
              <a:t> </a:t>
            </a:r>
            <a:r>
              <a:rPr sz="1800" b="1" spc="-10" dirty="0">
                <a:solidFill>
                  <a:srgbClr val="052358"/>
                </a:solidFill>
                <a:latin typeface="Times New Roman"/>
                <a:cs typeface="Times New Roman"/>
              </a:rPr>
              <a:t>System</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dirty="0">
                <a:solidFill>
                  <a:srgbClr val="052358"/>
                </a:solidFill>
                <a:latin typeface="Times New Roman"/>
                <a:cs typeface="Times New Roman"/>
              </a:rPr>
              <a:t>Software</a:t>
            </a:r>
            <a:r>
              <a:rPr sz="1800" b="1" spc="-60" dirty="0">
                <a:solidFill>
                  <a:srgbClr val="052358"/>
                </a:solidFill>
                <a:latin typeface="Times New Roman"/>
                <a:cs typeface="Times New Roman"/>
              </a:rPr>
              <a:t> </a:t>
            </a:r>
            <a:r>
              <a:rPr sz="1800" b="1" dirty="0">
                <a:solidFill>
                  <a:srgbClr val="052358"/>
                </a:solidFill>
                <a:latin typeface="Times New Roman"/>
                <a:cs typeface="Times New Roman"/>
              </a:rPr>
              <a:t>&amp;</a:t>
            </a:r>
            <a:r>
              <a:rPr sz="1800" b="1" spc="-50" dirty="0">
                <a:solidFill>
                  <a:srgbClr val="052358"/>
                </a:solidFill>
                <a:latin typeface="Times New Roman"/>
                <a:cs typeface="Times New Roman"/>
              </a:rPr>
              <a:t> </a:t>
            </a:r>
            <a:r>
              <a:rPr sz="1800" b="1" spc="-10" dirty="0">
                <a:solidFill>
                  <a:srgbClr val="052358"/>
                </a:solidFill>
                <a:latin typeface="Times New Roman"/>
                <a:cs typeface="Times New Roman"/>
              </a:rPr>
              <a:t>Hardware</a:t>
            </a:r>
            <a:r>
              <a:rPr sz="1800" b="1" spc="-55" dirty="0">
                <a:solidFill>
                  <a:srgbClr val="052358"/>
                </a:solidFill>
                <a:latin typeface="Times New Roman"/>
                <a:cs typeface="Times New Roman"/>
              </a:rPr>
              <a:t> </a:t>
            </a:r>
            <a:r>
              <a:rPr sz="1800" b="1" spc="-10" dirty="0">
                <a:solidFill>
                  <a:srgbClr val="052358"/>
                </a:solidFill>
                <a:latin typeface="Times New Roman"/>
                <a:cs typeface="Times New Roman"/>
              </a:rPr>
              <a:t>Requirement</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dirty="0">
                <a:solidFill>
                  <a:srgbClr val="052358"/>
                </a:solidFill>
                <a:latin typeface="Times New Roman"/>
                <a:cs typeface="Times New Roman"/>
              </a:rPr>
              <a:t>System</a:t>
            </a:r>
            <a:r>
              <a:rPr sz="1800" b="1" spc="-35" dirty="0">
                <a:solidFill>
                  <a:srgbClr val="052358"/>
                </a:solidFill>
                <a:latin typeface="Times New Roman"/>
                <a:cs typeface="Times New Roman"/>
              </a:rPr>
              <a:t> </a:t>
            </a:r>
            <a:r>
              <a:rPr sz="1800" b="1" dirty="0">
                <a:solidFill>
                  <a:srgbClr val="052358"/>
                </a:solidFill>
                <a:latin typeface="Times New Roman"/>
                <a:cs typeface="Times New Roman"/>
              </a:rPr>
              <a:t>Design</a:t>
            </a:r>
            <a:r>
              <a:rPr sz="1800" b="1" spc="-35" dirty="0">
                <a:solidFill>
                  <a:srgbClr val="052358"/>
                </a:solidFill>
                <a:latin typeface="Times New Roman"/>
                <a:cs typeface="Times New Roman"/>
              </a:rPr>
              <a:t> </a:t>
            </a:r>
            <a:r>
              <a:rPr sz="1800" b="1" dirty="0">
                <a:solidFill>
                  <a:srgbClr val="052358"/>
                </a:solidFill>
                <a:latin typeface="Times New Roman"/>
                <a:cs typeface="Times New Roman"/>
              </a:rPr>
              <a:t>and</a:t>
            </a:r>
            <a:r>
              <a:rPr sz="1800" b="1" spc="-30" dirty="0">
                <a:solidFill>
                  <a:srgbClr val="052358"/>
                </a:solidFill>
                <a:latin typeface="Times New Roman"/>
                <a:cs typeface="Times New Roman"/>
              </a:rPr>
              <a:t> </a:t>
            </a:r>
            <a:r>
              <a:rPr sz="1800" b="1" spc="-10" dirty="0">
                <a:solidFill>
                  <a:srgbClr val="052358"/>
                </a:solidFill>
                <a:latin typeface="Times New Roman"/>
                <a:cs typeface="Times New Roman"/>
              </a:rPr>
              <a:t>Implementation</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dirty="0">
                <a:solidFill>
                  <a:srgbClr val="052358"/>
                </a:solidFill>
                <a:latin typeface="Times New Roman"/>
                <a:cs typeface="Times New Roman"/>
              </a:rPr>
              <a:t>Results</a:t>
            </a:r>
            <a:r>
              <a:rPr sz="1800" b="1" spc="-25" dirty="0">
                <a:solidFill>
                  <a:srgbClr val="052358"/>
                </a:solidFill>
                <a:latin typeface="Times New Roman"/>
                <a:cs typeface="Times New Roman"/>
              </a:rPr>
              <a:t> </a:t>
            </a:r>
            <a:r>
              <a:rPr sz="1800" b="1" dirty="0">
                <a:solidFill>
                  <a:srgbClr val="052358"/>
                </a:solidFill>
                <a:latin typeface="Times New Roman"/>
                <a:cs typeface="Times New Roman"/>
              </a:rPr>
              <a:t>and</a:t>
            </a:r>
            <a:r>
              <a:rPr sz="1800" b="1" spc="-25" dirty="0">
                <a:solidFill>
                  <a:srgbClr val="052358"/>
                </a:solidFill>
                <a:latin typeface="Times New Roman"/>
                <a:cs typeface="Times New Roman"/>
              </a:rPr>
              <a:t> </a:t>
            </a:r>
            <a:r>
              <a:rPr sz="1800" b="1" spc="-10" dirty="0">
                <a:solidFill>
                  <a:srgbClr val="052358"/>
                </a:solidFill>
                <a:latin typeface="Times New Roman"/>
                <a:cs typeface="Times New Roman"/>
              </a:rPr>
              <a:t>Conclusion</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spc="-10" dirty="0">
                <a:solidFill>
                  <a:srgbClr val="052358"/>
                </a:solidFill>
                <a:latin typeface="Times New Roman"/>
                <a:cs typeface="Times New Roman"/>
              </a:rPr>
              <a:t>References</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dirty="0">
                <a:solidFill>
                  <a:srgbClr val="052358"/>
                </a:solidFill>
                <a:latin typeface="Times New Roman"/>
                <a:cs typeface="Times New Roman"/>
              </a:rPr>
              <a:t>Publications</a:t>
            </a:r>
            <a:r>
              <a:rPr sz="1800" b="1" spc="-35" dirty="0">
                <a:solidFill>
                  <a:srgbClr val="052358"/>
                </a:solidFill>
                <a:latin typeface="Times New Roman"/>
                <a:cs typeface="Times New Roman"/>
              </a:rPr>
              <a:t> </a:t>
            </a:r>
            <a:r>
              <a:rPr sz="1800" b="1" dirty="0">
                <a:solidFill>
                  <a:srgbClr val="052358"/>
                </a:solidFill>
                <a:latin typeface="Times New Roman"/>
                <a:cs typeface="Times New Roman"/>
              </a:rPr>
              <a:t>/</a:t>
            </a:r>
            <a:r>
              <a:rPr sz="1800" b="1" spc="-30" dirty="0">
                <a:solidFill>
                  <a:srgbClr val="052358"/>
                </a:solidFill>
                <a:latin typeface="Times New Roman"/>
                <a:cs typeface="Times New Roman"/>
              </a:rPr>
              <a:t> </a:t>
            </a:r>
            <a:r>
              <a:rPr sz="1800" b="1" dirty="0">
                <a:solidFill>
                  <a:srgbClr val="052358"/>
                </a:solidFill>
                <a:latin typeface="Times New Roman"/>
                <a:cs typeface="Times New Roman"/>
              </a:rPr>
              <a:t>Patents</a:t>
            </a:r>
            <a:r>
              <a:rPr sz="1800" b="1" spc="-30" dirty="0">
                <a:solidFill>
                  <a:srgbClr val="052358"/>
                </a:solidFill>
                <a:latin typeface="Times New Roman"/>
                <a:cs typeface="Times New Roman"/>
              </a:rPr>
              <a:t> </a:t>
            </a:r>
            <a:r>
              <a:rPr sz="1800" b="1" dirty="0">
                <a:solidFill>
                  <a:srgbClr val="052358"/>
                </a:solidFill>
                <a:latin typeface="Times New Roman"/>
                <a:cs typeface="Times New Roman"/>
              </a:rPr>
              <a:t>/</a:t>
            </a:r>
            <a:r>
              <a:rPr sz="1800" b="1" spc="-35" dirty="0">
                <a:solidFill>
                  <a:srgbClr val="052358"/>
                </a:solidFill>
                <a:latin typeface="Times New Roman"/>
                <a:cs typeface="Times New Roman"/>
              </a:rPr>
              <a:t> </a:t>
            </a:r>
            <a:r>
              <a:rPr sz="1800" b="1" dirty="0">
                <a:solidFill>
                  <a:srgbClr val="052358"/>
                </a:solidFill>
                <a:latin typeface="Times New Roman"/>
                <a:cs typeface="Times New Roman"/>
              </a:rPr>
              <a:t>Copyright</a:t>
            </a:r>
            <a:r>
              <a:rPr sz="1800" b="1" spc="-25" dirty="0">
                <a:solidFill>
                  <a:srgbClr val="052358"/>
                </a:solidFill>
                <a:latin typeface="Times New Roman"/>
                <a:cs typeface="Times New Roman"/>
              </a:rPr>
              <a:t> </a:t>
            </a:r>
            <a:r>
              <a:rPr sz="1800" b="1" dirty="0">
                <a:solidFill>
                  <a:srgbClr val="052358"/>
                </a:solidFill>
                <a:latin typeface="Times New Roman"/>
                <a:cs typeface="Times New Roman"/>
              </a:rPr>
              <a:t>(if</a:t>
            </a:r>
            <a:r>
              <a:rPr sz="1800" b="1" spc="-25" dirty="0">
                <a:solidFill>
                  <a:srgbClr val="052358"/>
                </a:solidFill>
                <a:latin typeface="Times New Roman"/>
                <a:cs typeface="Times New Roman"/>
              </a:rPr>
              <a:t> </a:t>
            </a:r>
            <a:r>
              <a:rPr sz="1800" b="1" spc="-20" dirty="0">
                <a:solidFill>
                  <a:srgbClr val="052358"/>
                </a:solidFill>
                <a:latin typeface="Times New Roman"/>
                <a:cs typeface="Times New Roman"/>
              </a:rPr>
              <a:t>any)</a:t>
            </a:r>
            <a:endParaRPr sz="1800">
              <a:latin typeface="Times New Roman"/>
              <a:cs typeface="Times New Roman"/>
            </a:endParaRPr>
          </a:p>
          <a:p>
            <a:pPr marL="476884" indent="-464184">
              <a:lnSpc>
                <a:spcPct val="100000"/>
              </a:lnSpc>
              <a:spcBef>
                <a:spcPts val="800"/>
              </a:spcBef>
              <a:buClr>
                <a:srgbClr val="C00000"/>
              </a:buClr>
              <a:buFont typeface="SimSun-ExtB"/>
              <a:buChar char="❑"/>
              <a:tabLst>
                <a:tab pos="476884" algn="l"/>
              </a:tabLst>
            </a:pPr>
            <a:r>
              <a:rPr sz="1800" b="1" dirty="0">
                <a:solidFill>
                  <a:srgbClr val="052358"/>
                </a:solidFill>
                <a:latin typeface="Times New Roman"/>
                <a:cs typeface="Times New Roman"/>
              </a:rPr>
              <a:t>Collaboration</a:t>
            </a:r>
            <a:r>
              <a:rPr sz="1800" b="1" spc="-45" dirty="0">
                <a:solidFill>
                  <a:srgbClr val="052358"/>
                </a:solidFill>
                <a:latin typeface="Times New Roman"/>
                <a:cs typeface="Times New Roman"/>
              </a:rPr>
              <a:t> </a:t>
            </a:r>
            <a:r>
              <a:rPr sz="1800" b="1" dirty="0">
                <a:solidFill>
                  <a:srgbClr val="052358"/>
                </a:solidFill>
                <a:latin typeface="Times New Roman"/>
                <a:cs typeface="Times New Roman"/>
              </a:rPr>
              <a:t>with</a:t>
            </a:r>
            <a:r>
              <a:rPr sz="1800" b="1" spc="-45" dirty="0">
                <a:solidFill>
                  <a:srgbClr val="052358"/>
                </a:solidFill>
                <a:latin typeface="Times New Roman"/>
                <a:cs typeface="Times New Roman"/>
              </a:rPr>
              <a:t> </a:t>
            </a:r>
            <a:r>
              <a:rPr sz="1800" b="1" dirty="0">
                <a:solidFill>
                  <a:srgbClr val="052358"/>
                </a:solidFill>
                <a:latin typeface="Times New Roman"/>
                <a:cs typeface="Times New Roman"/>
              </a:rPr>
              <a:t>Organizations</a:t>
            </a:r>
            <a:r>
              <a:rPr sz="1800" b="1" spc="-40" dirty="0">
                <a:solidFill>
                  <a:srgbClr val="052358"/>
                </a:solidFill>
                <a:latin typeface="Times New Roman"/>
                <a:cs typeface="Times New Roman"/>
              </a:rPr>
              <a:t> </a:t>
            </a:r>
            <a:r>
              <a:rPr sz="1800" b="1" dirty="0">
                <a:solidFill>
                  <a:srgbClr val="052358"/>
                </a:solidFill>
                <a:latin typeface="Times New Roman"/>
                <a:cs typeface="Times New Roman"/>
              </a:rPr>
              <a:t>(if</a:t>
            </a:r>
            <a:r>
              <a:rPr sz="1800" b="1" spc="-40" dirty="0">
                <a:solidFill>
                  <a:srgbClr val="052358"/>
                </a:solidFill>
                <a:latin typeface="Times New Roman"/>
                <a:cs typeface="Times New Roman"/>
              </a:rPr>
              <a:t> </a:t>
            </a:r>
            <a:r>
              <a:rPr sz="1800" b="1" spc="-20" dirty="0">
                <a:solidFill>
                  <a:srgbClr val="052358"/>
                </a:solidFill>
                <a:latin typeface="Times New Roman"/>
                <a:cs typeface="Times New Roman"/>
              </a:rPr>
              <a:t>any)</a:t>
            </a:r>
            <a:endParaRPr sz="1800">
              <a:latin typeface="Times New Roman"/>
              <a:cs typeface="Times New Roman"/>
            </a:endParaRPr>
          </a:p>
        </p:txBody>
      </p:sp>
      <p:sp>
        <p:nvSpPr>
          <p:cNvPr id="6" name="object 6"/>
          <p:cNvSpPr txBox="1">
            <a:spLocks noGrp="1"/>
          </p:cNvSpPr>
          <p:nvPr>
            <p:ph type="title"/>
          </p:nvPr>
        </p:nvSpPr>
        <p:spPr>
          <a:xfrm>
            <a:off x="2343150" y="103651"/>
            <a:ext cx="3040380" cy="497840"/>
          </a:xfrm>
          <a:prstGeom prst="rect">
            <a:avLst/>
          </a:prstGeom>
        </p:spPr>
        <p:txBody>
          <a:bodyPr vert="horz" wrap="square" lIns="0" tIns="12700" rIns="0" bIns="0" rtlCol="0">
            <a:spAutoFit/>
          </a:bodyPr>
          <a:lstStyle/>
          <a:p>
            <a:pPr marL="12700">
              <a:lnSpc>
                <a:spcPct val="100000"/>
              </a:lnSpc>
              <a:spcBef>
                <a:spcPts val="100"/>
              </a:spcBef>
            </a:pPr>
            <a:r>
              <a:rPr sz="3100" dirty="0"/>
              <a:t>Outline</a:t>
            </a:r>
            <a:r>
              <a:rPr sz="3100" spc="-70" dirty="0"/>
              <a:t> </a:t>
            </a:r>
            <a:r>
              <a:rPr sz="3100" dirty="0"/>
              <a:t>of</a:t>
            </a:r>
            <a:r>
              <a:rPr sz="3100" spc="-65" dirty="0"/>
              <a:t> </a:t>
            </a:r>
            <a:r>
              <a:rPr sz="3100" spc="-10" dirty="0"/>
              <a:t>Project</a:t>
            </a:r>
            <a:endParaRPr sz="3100"/>
          </a:p>
        </p:txBody>
      </p:sp>
      <p:pic>
        <p:nvPicPr>
          <p:cNvPr id="7" name="object 7"/>
          <p:cNvPicPr/>
          <p:nvPr/>
        </p:nvPicPr>
        <p:blipFill>
          <a:blip r:embed="rId5" cstate="print"/>
          <a:stretch>
            <a:fillRect/>
          </a:stretch>
        </p:blipFill>
        <p:spPr>
          <a:xfrm>
            <a:off x="214445" y="114300"/>
            <a:ext cx="751667" cy="772566"/>
          </a:xfrm>
          <a:prstGeom prst="rect">
            <a:avLst/>
          </a:prstGeom>
        </p:spPr>
      </p:pic>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40570" rIns="0" bIns="0" rtlCol="0">
            <a:spAutoFit/>
          </a:bodyPr>
          <a:lstStyle/>
          <a:p>
            <a:pPr marL="2308860">
              <a:lnSpc>
                <a:spcPct val="100000"/>
              </a:lnSpc>
              <a:spcBef>
                <a:spcPts val="100"/>
              </a:spcBef>
            </a:pPr>
            <a:r>
              <a:rPr sz="3100" spc="-10" dirty="0"/>
              <a:t>Introduction</a:t>
            </a:r>
            <a:endParaRPr sz="3100" dirty="0"/>
          </a:p>
        </p:txBody>
      </p:sp>
      <p:sp>
        <p:nvSpPr>
          <p:cNvPr id="6" name="Text Placeholder 5">
            <a:extLst>
              <a:ext uri="{FF2B5EF4-FFF2-40B4-BE49-F238E27FC236}">
                <a16:creationId xmlns:a16="http://schemas.microsoft.com/office/drawing/2014/main" id="{EFA04946-BF22-742C-C8DC-BCA93B792CB8}"/>
              </a:ext>
            </a:extLst>
          </p:cNvPr>
          <p:cNvSpPr>
            <a:spLocks noGrp="1"/>
          </p:cNvSpPr>
          <p:nvPr>
            <p:ph type="body" idx="1"/>
          </p:nvPr>
        </p:nvSpPr>
        <p:spPr>
          <a:xfrm>
            <a:off x="457200" y="1183004"/>
            <a:ext cx="8229600" cy="3077766"/>
          </a:xfrm>
        </p:spPr>
        <p:txBody>
          <a:bodyPr/>
          <a:lstStyle/>
          <a:p>
            <a:pPr algn="just"/>
            <a:r>
              <a:rPr lang="en-US" sz="2000" dirty="0"/>
              <a:t>Why Static AI is a Risk Sub-headline</a:t>
            </a:r>
            <a:r>
              <a:rPr lang="en-US" sz="2000" b="1" dirty="0"/>
              <a:t>:</a:t>
            </a:r>
            <a:r>
              <a:rPr lang="en-US" sz="2000" dirty="0"/>
              <a:t> Bridging the gap between Model Deployment and Real-World Accountability?</a:t>
            </a:r>
          </a:p>
          <a:p>
            <a:pPr marL="285750" indent="-285750" algn="just">
              <a:buFont typeface="Arial" panose="020B0604020202020204" pitchFamily="34" charset="0"/>
              <a:buChar char="•"/>
            </a:pPr>
            <a:r>
              <a:rPr lang="en-US" sz="2000" b="1" dirty="0"/>
              <a:t>The "Black Box" Problem:</a:t>
            </a:r>
            <a:r>
              <a:rPr lang="en-US" sz="2000" dirty="0"/>
              <a:t> Once an AI model is deployed, it often operates without oversight, leading to "Silent Failures" that go undetected for weeks.</a:t>
            </a:r>
          </a:p>
          <a:p>
            <a:pPr marL="285750" indent="-285750" algn="just">
              <a:buFont typeface="Arial" panose="020B0604020202020204" pitchFamily="34" charset="0"/>
              <a:buChar char="•"/>
            </a:pPr>
            <a:r>
              <a:rPr lang="en-US" sz="2000" b="1" dirty="0"/>
              <a:t>Performance Decay (Drift):</a:t>
            </a:r>
            <a:r>
              <a:rPr lang="en-US" sz="2000" dirty="0"/>
              <a:t> Real-world data is dynamic. Models trained on past data fail when faced with the shifting trends of 2026.</a:t>
            </a:r>
          </a:p>
          <a:p>
            <a:pPr marL="285750" indent="-285750" algn="just">
              <a:buFont typeface="Arial" panose="020B0604020202020204" pitchFamily="34" charset="0"/>
              <a:buChar char="•"/>
            </a:pPr>
            <a:r>
              <a:rPr lang="en-US" sz="2000" b="1" dirty="0"/>
              <a:t>The Trust Deficit:</a:t>
            </a:r>
            <a:r>
              <a:rPr lang="en-US" sz="2000" dirty="0"/>
              <a:t> High-stakes industries (Finance, Healthcare, Legal) cannot adopt AI without a transparent audit trail and ethical safeguards.</a:t>
            </a:r>
          </a:p>
          <a:p>
            <a:pPr marL="285750" indent="-285750" algn="just">
              <a:buFont typeface="Arial" panose="020B0604020202020204" pitchFamily="34" charset="0"/>
              <a:buChar char="•"/>
            </a:pPr>
            <a:r>
              <a:rPr lang="en-US" sz="2000" b="1" dirty="0"/>
              <a:t>Our Mission:</a:t>
            </a:r>
            <a:r>
              <a:rPr lang="en-US" sz="2000" dirty="0"/>
              <a:t> To transform AI governance from a manual, periodic check into a real-time, automated "Digital Judge.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420325"/>
            <a:ext cx="6779043" cy="986366"/>
          </a:xfrm>
          <a:prstGeom prst="rect">
            <a:avLst/>
          </a:prstGeom>
        </p:spPr>
        <p:txBody>
          <a:bodyPr vert="horz" wrap="square" lIns="0" tIns="12700" rIns="0" bIns="0" rtlCol="0">
            <a:spAutoFit/>
          </a:bodyPr>
          <a:lstStyle/>
          <a:p>
            <a:pPr marL="12700">
              <a:lnSpc>
                <a:spcPct val="100000"/>
              </a:lnSpc>
              <a:spcBef>
                <a:spcPts val="100"/>
              </a:spcBef>
            </a:pPr>
            <a:r>
              <a:rPr sz="3100" dirty="0"/>
              <a:t>Problem</a:t>
            </a:r>
            <a:r>
              <a:rPr sz="3100" spc="-30" dirty="0"/>
              <a:t> </a:t>
            </a:r>
            <a:r>
              <a:rPr sz="3100" spc="-10" dirty="0"/>
              <a:t>Statement</a:t>
            </a:r>
            <a:endParaRPr sz="3100" dirty="0"/>
          </a:p>
        </p:txBody>
      </p:sp>
      <p:sp>
        <p:nvSpPr>
          <p:cNvPr id="6" name="Text Placeholder 5">
            <a:extLst>
              <a:ext uri="{FF2B5EF4-FFF2-40B4-BE49-F238E27FC236}">
                <a16:creationId xmlns:a16="http://schemas.microsoft.com/office/drawing/2014/main" id="{210C5E66-701C-2788-1076-FCECA83642C7}"/>
              </a:ext>
            </a:extLst>
          </p:cNvPr>
          <p:cNvSpPr>
            <a:spLocks noGrp="1"/>
          </p:cNvSpPr>
          <p:nvPr>
            <p:ph type="body" idx="1"/>
          </p:nvPr>
        </p:nvSpPr>
        <p:spPr>
          <a:xfrm>
            <a:off x="457200" y="1183004"/>
            <a:ext cx="8305800" cy="3046988"/>
          </a:xfrm>
        </p:spPr>
        <p:txBody>
          <a:bodyPr/>
          <a:lstStyle/>
          <a:p>
            <a:pPr algn="just"/>
            <a:r>
              <a:rPr lang="en-US" dirty="0"/>
              <a:t>Most AI models today are treated as "set and forget" tools. Once a model is deployed, it is often left to run without any real supervision, creating a dangerous blind spot for businesses. This is a problem because the real world is constantly changing, while the model stays frozen in its training. Over time, the data the model sees starts to look very different from what it learned in the past, leading to a drop in accuracy known as "data drift." Even more concerning is that models can develop hidden biases, making unfair or even illegal decisions that no one notices until it is too late. Right now, most organizations only realize their AI has failed after a major mistake or a lawsuit occurs. There is a critical need for a system that doesn't just wait for things to go wrong, but actively "judges" the AI's health every second to ensure it stays fair, accurate, and reliable.</a:t>
            </a:r>
            <a:endParaRPr lang="en-IN" dirty="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351482"/>
            <a:ext cx="6779043" cy="986366"/>
          </a:xfrm>
          <a:prstGeom prst="rect">
            <a:avLst/>
          </a:prstGeom>
        </p:spPr>
        <p:txBody>
          <a:bodyPr vert="horz" wrap="square" lIns="0" tIns="501226" rIns="0" bIns="0" rtlCol="0">
            <a:spAutoFit/>
          </a:bodyPr>
          <a:lstStyle/>
          <a:p>
            <a:pPr marL="1612265">
              <a:lnSpc>
                <a:spcPct val="100000"/>
              </a:lnSpc>
              <a:spcBef>
                <a:spcPts val="100"/>
              </a:spcBef>
            </a:pPr>
            <a:r>
              <a:rPr sz="3100" dirty="0"/>
              <a:t>Objective</a:t>
            </a:r>
            <a:r>
              <a:rPr sz="3100" spc="-114" dirty="0"/>
              <a:t> </a:t>
            </a:r>
            <a:r>
              <a:rPr sz="3100" dirty="0"/>
              <a:t>and</a:t>
            </a:r>
            <a:r>
              <a:rPr sz="3100" spc="-110" dirty="0"/>
              <a:t> </a:t>
            </a:r>
            <a:r>
              <a:rPr sz="3100" spc="-20" dirty="0"/>
              <a:t>Scope</a:t>
            </a:r>
            <a:endParaRPr sz="3100" dirty="0"/>
          </a:p>
        </p:txBody>
      </p:sp>
      <p:sp>
        <p:nvSpPr>
          <p:cNvPr id="6" name="Text Placeholder 5">
            <a:extLst>
              <a:ext uri="{FF2B5EF4-FFF2-40B4-BE49-F238E27FC236}">
                <a16:creationId xmlns:a16="http://schemas.microsoft.com/office/drawing/2014/main" id="{B29FC485-28BF-3D6E-B517-350D20AA92A3}"/>
              </a:ext>
            </a:extLst>
          </p:cNvPr>
          <p:cNvSpPr>
            <a:spLocks noGrp="1"/>
          </p:cNvSpPr>
          <p:nvPr>
            <p:ph type="body" idx="1"/>
          </p:nvPr>
        </p:nvSpPr>
        <p:spPr>
          <a:xfrm>
            <a:off x="533400" y="771922"/>
            <a:ext cx="8229600" cy="4093428"/>
          </a:xfrm>
        </p:spPr>
        <p:txBody>
          <a:bodyPr/>
          <a:lstStyle/>
          <a:p>
            <a:r>
              <a:rPr lang="en-US" b="1" u="sng" dirty="0"/>
              <a:t>Objectives</a:t>
            </a:r>
            <a:endParaRPr lang="en-US" u="sng" dirty="0"/>
          </a:p>
          <a:p>
            <a:r>
              <a:rPr lang="en-US" b="1" dirty="0"/>
              <a:t>Real-Time "Digital Judge":</a:t>
            </a:r>
            <a:r>
              <a:rPr lang="en-US" dirty="0"/>
              <a:t> Build a platform that moves AI oversight from manual, periodic checks to continuous, automated monitoring.</a:t>
            </a:r>
          </a:p>
          <a:p>
            <a:r>
              <a:rPr lang="en-US" b="1" dirty="0"/>
              <a:t>Dynamic Thresholding:</a:t>
            </a:r>
            <a:r>
              <a:rPr lang="en-US" dirty="0"/>
              <a:t> Implement "self-evolving" rules that automatically recalibrate as AI models learn and retrain.</a:t>
            </a:r>
          </a:p>
          <a:p>
            <a:r>
              <a:rPr lang="en-US" b="1" dirty="0"/>
              <a:t>Automated Remediation:</a:t>
            </a:r>
            <a:r>
              <a:rPr lang="en-US" dirty="0"/>
              <a:t> Use NLP to generate instant "fix-it" reports, translating complex mathematical failures into clear developer actions.</a:t>
            </a:r>
          </a:p>
          <a:p>
            <a:r>
              <a:rPr lang="en-US" b="1" u="sng" dirty="0"/>
              <a:t>Scope</a:t>
            </a:r>
            <a:endParaRPr lang="en-US" u="sng" dirty="0"/>
          </a:p>
          <a:p>
            <a:r>
              <a:rPr lang="en-US" b="1" dirty="0"/>
              <a:t>Enterprise-Scale Pipeline:</a:t>
            </a:r>
            <a:r>
              <a:rPr lang="en-US" dirty="0"/>
              <a:t> Engineered to handle high-concurrency traffic for up to 100,000 concurrent users.</a:t>
            </a:r>
          </a:p>
          <a:p>
            <a:r>
              <a:rPr lang="en-US" b="1" dirty="0"/>
              <a:t>Five Vitals Monitoring:</a:t>
            </a:r>
            <a:r>
              <a:rPr lang="en-US" dirty="0"/>
              <a:t> Implementation of five core metrics</a:t>
            </a:r>
            <a:r>
              <a:rPr lang="en-US" b="1" dirty="0"/>
              <a:t>: </a:t>
            </a:r>
            <a:r>
              <a:rPr lang="en-US" dirty="0"/>
              <a:t>Bias (BDI), Confidence (CCR), Stability (PSI), Consistency (ESS), and Robustness.</a:t>
            </a:r>
          </a:p>
          <a:p>
            <a:r>
              <a:rPr lang="en-US" b="1" dirty="0"/>
              <a:t>Polyglot Architecture:</a:t>
            </a:r>
            <a:r>
              <a:rPr lang="en-US" dirty="0"/>
              <a:t> A hybrid system using Node.js for high-speed data ingestion and Python for deep statistical auditing.</a:t>
            </a:r>
          </a:p>
          <a:p>
            <a:endParaRPr lang="en-IN" sz="1400" dirty="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5</a:t>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71213"/>
            <a:ext cx="5029201" cy="825828"/>
          </a:xfrm>
          <a:prstGeom prst="rect">
            <a:avLst/>
          </a:prstGeom>
        </p:spPr>
        <p:txBody>
          <a:bodyPr vert="horz" wrap="square" lIns="0" tIns="345401" rIns="0" bIns="0" rtlCol="0">
            <a:spAutoFit/>
          </a:bodyPr>
          <a:lstStyle/>
          <a:p>
            <a:pPr marL="1417320">
              <a:lnSpc>
                <a:spcPct val="100000"/>
              </a:lnSpc>
              <a:spcBef>
                <a:spcPts val="100"/>
              </a:spcBef>
            </a:pPr>
            <a:r>
              <a:rPr sz="3100" dirty="0"/>
              <a:t>Literature</a:t>
            </a:r>
            <a:r>
              <a:rPr sz="3100" spc="-175" dirty="0"/>
              <a:t> </a:t>
            </a:r>
            <a:r>
              <a:rPr sz="3100" spc="-10" dirty="0"/>
              <a:t>Survey</a:t>
            </a:r>
            <a:endParaRPr sz="3100" dirty="0"/>
          </a:p>
        </p:txBody>
      </p:sp>
      <p:sp>
        <p:nvSpPr>
          <p:cNvPr id="6" name="Text Placeholder 5">
            <a:extLst>
              <a:ext uri="{FF2B5EF4-FFF2-40B4-BE49-F238E27FC236}">
                <a16:creationId xmlns:a16="http://schemas.microsoft.com/office/drawing/2014/main" id="{C09770CF-0AEB-41CD-B9BF-9A073707B07D}"/>
              </a:ext>
            </a:extLst>
          </p:cNvPr>
          <p:cNvSpPr>
            <a:spLocks noGrp="1"/>
          </p:cNvSpPr>
          <p:nvPr>
            <p:ph type="body" idx="1"/>
          </p:nvPr>
        </p:nvSpPr>
        <p:spPr>
          <a:xfrm>
            <a:off x="289197" y="971550"/>
            <a:ext cx="8229600" cy="3394710"/>
          </a:xfrm>
        </p:spPr>
        <p:txBody>
          <a:bodyPr/>
          <a:lstStyle/>
          <a:p>
            <a:endParaRPr lang="en-IN" dirty="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6</a:t>
            </a:fld>
            <a:endParaRPr spc="-50" dirty="0"/>
          </a:p>
        </p:txBody>
      </p:sp>
      <p:graphicFrame>
        <p:nvGraphicFramePr>
          <p:cNvPr id="7" name="Table 6">
            <a:extLst>
              <a:ext uri="{FF2B5EF4-FFF2-40B4-BE49-F238E27FC236}">
                <a16:creationId xmlns:a16="http://schemas.microsoft.com/office/drawing/2014/main" id="{E461CCAE-9731-246D-7619-67A75846185C}"/>
              </a:ext>
            </a:extLst>
          </p:cNvPr>
          <p:cNvGraphicFramePr>
            <a:graphicFrameLocks noGrp="1"/>
          </p:cNvGraphicFramePr>
          <p:nvPr>
            <p:extLst>
              <p:ext uri="{D42A27DB-BD31-4B8C-83A1-F6EECF244321}">
                <p14:modId xmlns:p14="http://schemas.microsoft.com/office/powerpoint/2010/main" val="1121498576"/>
              </p:ext>
            </p:extLst>
          </p:nvPr>
        </p:nvGraphicFramePr>
        <p:xfrm>
          <a:off x="167267" y="658233"/>
          <a:ext cx="8991601" cy="4433394"/>
        </p:xfrm>
        <a:graphic>
          <a:graphicData uri="http://schemas.openxmlformats.org/drawingml/2006/table">
            <a:tbl>
              <a:tblPr firstRow="1" bandRow="1">
                <a:tableStyleId>{5C22544A-7EE6-4342-B048-85BDC9FD1C3A}</a:tableStyleId>
              </a:tblPr>
              <a:tblGrid>
                <a:gridCol w="2133457">
                  <a:extLst>
                    <a:ext uri="{9D8B030D-6E8A-4147-A177-3AD203B41FA5}">
                      <a16:colId xmlns:a16="http://schemas.microsoft.com/office/drawing/2014/main" val="2338984891"/>
                    </a:ext>
                  </a:extLst>
                </a:gridCol>
                <a:gridCol w="2286048">
                  <a:extLst>
                    <a:ext uri="{9D8B030D-6E8A-4147-A177-3AD203B41FA5}">
                      <a16:colId xmlns:a16="http://schemas.microsoft.com/office/drawing/2014/main" val="654187678"/>
                    </a:ext>
                  </a:extLst>
                </a:gridCol>
                <a:gridCol w="2499828">
                  <a:extLst>
                    <a:ext uri="{9D8B030D-6E8A-4147-A177-3AD203B41FA5}">
                      <a16:colId xmlns:a16="http://schemas.microsoft.com/office/drawing/2014/main" val="3977707479"/>
                    </a:ext>
                  </a:extLst>
                </a:gridCol>
                <a:gridCol w="2072268">
                  <a:extLst>
                    <a:ext uri="{9D8B030D-6E8A-4147-A177-3AD203B41FA5}">
                      <a16:colId xmlns:a16="http://schemas.microsoft.com/office/drawing/2014/main" val="419534952"/>
                    </a:ext>
                  </a:extLst>
                </a:gridCol>
              </a:tblGrid>
              <a:tr h="261717">
                <a:tc>
                  <a:txBody>
                    <a:bodyPr/>
                    <a:lstStyle/>
                    <a:p>
                      <a:r>
                        <a:rPr lang="en-IN" sz="1200" dirty="0"/>
                        <a:t>Research Paper </a:t>
                      </a:r>
                    </a:p>
                  </a:txBody>
                  <a:tcPr/>
                </a:tc>
                <a:tc>
                  <a:txBody>
                    <a:bodyPr/>
                    <a:lstStyle/>
                    <a:p>
                      <a:r>
                        <a:rPr lang="en-US" sz="1200" dirty="0"/>
                        <a:t>What the Paper Proposes / Has</a:t>
                      </a:r>
                      <a:endParaRPr lang="en-IN" sz="1200" dirty="0"/>
                    </a:p>
                  </a:txBody>
                  <a:tcPr/>
                </a:tc>
                <a:tc>
                  <a:txBody>
                    <a:bodyPr/>
                    <a:lstStyle/>
                    <a:p>
                      <a:r>
                        <a:rPr lang="en-IN" sz="1200" dirty="0"/>
                        <a:t>Limitations Identified</a:t>
                      </a:r>
                    </a:p>
                  </a:txBody>
                  <a:tcPr/>
                </a:tc>
                <a:tc>
                  <a:txBody>
                    <a:bodyPr/>
                    <a:lstStyle/>
                    <a:p>
                      <a:r>
                        <a:rPr lang="en-US" sz="1200" dirty="0"/>
                        <a:t>What We Use in Our Project</a:t>
                      </a:r>
                      <a:endParaRPr lang="en-IN" sz="1200" dirty="0"/>
                    </a:p>
                  </a:txBody>
                  <a:tcPr/>
                </a:tc>
                <a:extLst>
                  <a:ext uri="{0D108BD9-81ED-4DB2-BD59-A6C34878D82A}">
                    <a16:rowId xmlns:a16="http://schemas.microsoft.com/office/drawing/2014/main" val="552362962"/>
                  </a:ext>
                </a:extLst>
              </a:tr>
              <a:tr h="959628">
                <a:tc>
                  <a:txBody>
                    <a:bodyPr/>
                    <a:lstStyle/>
                    <a:p>
                      <a:r>
                        <a:rPr lang="en-US" sz="1200" dirty="0">
                          <a:solidFill>
                            <a:schemeClr val="tx2">
                              <a:lumMod val="50000"/>
                            </a:schemeClr>
                          </a:solidFill>
                          <a:effectLst>
                            <a:outerShdw blurRad="38100" dist="38100" dir="2700000" algn="tl">
                              <a:srgbClr val="000000">
                                <a:alpha val="43137"/>
                              </a:srgbClr>
                            </a:outerShdw>
                          </a:effectLst>
                        </a:rPr>
                        <a:t>1:</a:t>
                      </a:r>
                      <a:r>
                        <a:rPr lang="en-US" sz="1200" dirty="0"/>
                        <a:t>Keyes et al., "The Health Framework for AI," Stanford, 2025.</a:t>
                      </a:r>
                      <a:endParaRPr lang="en-IN" sz="1200" dirty="0">
                        <a:solidFill>
                          <a:schemeClr val="tx2">
                            <a:lumMod val="50000"/>
                          </a:schemeClr>
                        </a:solidFill>
                        <a:effectLst>
                          <a:outerShdw blurRad="38100" dist="38100" dir="2700000" algn="tl">
                            <a:srgbClr val="000000">
                              <a:alpha val="43137"/>
                            </a:srgbClr>
                          </a:outerShdw>
                        </a:effectLst>
                      </a:endParaRPr>
                    </a:p>
                  </a:txBody>
                  <a:tcPr/>
                </a:tc>
                <a:tc>
                  <a:txBody>
                    <a:bodyPr/>
                    <a:lstStyle/>
                    <a:p>
                      <a:r>
                        <a:rPr lang="en-US" sz="1200" dirty="0"/>
                        <a:t>Proposes three pillars (System Integrity, Performance, Impact) to evaluate AI health.</a:t>
                      </a:r>
                      <a:endParaRPr lang="en-IN" sz="1200" dirty="0"/>
                    </a:p>
                  </a:txBody>
                  <a:tcPr/>
                </a:tc>
                <a:tc>
                  <a:txBody>
                    <a:bodyPr/>
                    <a:lstStyle/>
                    <a:p>
                      <a:r>
                        <a:rPr lang="en-US" sz="1200" dirty="0"/>
                        <a:t>Focuses heavily on healthcare; lacks a scalable engineering blueprint for other industries.</a:t>
                      </a:r>
                      <a:endParaRPr lang="en-IN" sz="1200" dirty="0"/>
                    </a:p>
                  </a:txBody>
                  <a:tcPr/>
                </a:tc>
                <a:tc>
                  <a:txBody>
                    <a:bodyPr/>
                    <a:lstStyle/>
                    <a:p>
                      <a:r>
                        <a:rPr lang="en-US" sz="1200" dirty="0"/>
                        <a:t>We adopt the </a:t>
                      </a:r>
                      <a:r>
                        <a:rPr lang="en-US" sz="1200" b="0" dirty="0"/>
                        <a:t>Three Pillar framework</a:t>
                      </a:r>
                      <a:r>
                        <a:rPr lang="en-US" sz="1200" dirty="0"/>
                        <a:t> and generalize it for multi-industry, enterprise-scale use.</a:t>
                      </a:r>
                      <a:endParaRPr lang="en-IN" sz="1200" b="0" dirty="0"/>
                    </a:p>
                  </a:txBody>
                  <a:tcPr/>
                </a:tc>
                <a:extLst>
                  <a:ext uri="{0D108BD9-81ED-4DB2-BD59-A6C34878D82A}">
                    <a16:rowId xmlns:a16="http://schemas.microsoft.com/office/drawing/2014/main" val="1182613036"/>
                  </a:ext>
                </a:extLst>
              </a:tr>
              <a:tr h="785150">
                <a:tc>
                  <a:txBody>
                    <a:bodyPr/>
                    <a:lstStyle/>
                    <a:p>
                      <a:pPr>
                        <a:buNone/>
                      </a:pPr>
                      <a:r>
                        <a:rPr lang="en-US" sz="1200" dirty="0">
                          <a:solidFill>
                            <a:schemeClr val="tx2">
                              <a:lumMod val="50000"/>
                            </a:schemeClr>
                          </a:solidFill>
                          <a:effectLst>
                            <a:outerShdw blurRad="38100" dist="38100" dir="2700000" algn="tl">
                              <a:srgbClr val="000000">
                                <a:alpha val="43137"/>
                              </a:srgbClr>
                            </a:outerShdw>
                          </a:effectLst>
                        </a:rPr>
                        <a:t>2:</a:t>
                      </a:r>
                      <a:r>
                        <a:rPr lang="en-IN" sz="1200" dirty="0"/>
                        <a:t>Kaal, "Anticipatory Corporate Governance," SSRN, 2024.</a:t>
                      </a:r>
                      <a:r>
                        <a:rPr lang="en-US" sz="1200" dirty="0">
                          <a:solidFill>
                            <a:schemeClr val="tx2">
                              <a:lumMod val="50000"/>
                            </a:schemeClr>
                          </a:solidFill>
                          <a:effectLst>
                            <a:outerShdw blurRad="38100" dist="38100" dir="2700000" algn="tl">
                              <a:srgbClr val="000000">
                                <a:alpha val="43137"/>
                              </a:srgbClr>
                            </a:outerShdw>
                          </a:effectLst>
                        </a:rPr>
                        <a:t>.</a:t>
                      </a:r>
                      <a:endParaRPr lang="en-IN" sz="1200" dirty="0">
                        <a:solidFill>
                          <a:schemeClr val="tx2">
                            <a:lumMod val="50000"/>
                          </a:schemeClr>
                        </a:solidFill>
                        <a:effectLst>
                          <a:outerShdw blurRad="38100" dist="38100" dir="2700000" algn="tl">
                            <a:srgbClr val="000000">
                              <a:alpha val="43137"/>
                            </a:srgbClr>
                          </a:outerShdw>
                        </a:effectLst>
                      </a:endParaRPr>
                    </a:p>
                  </a:txBody>
                  <a:tcPr anchor="ctr"/>
                </a:tc>
                <a:tc>
                  <a:txBody>
                    <a:bodyPr/>
                    <a:lstStyle/>
                    <a:p>
                      <a:r>
                        <a:rPr lang="en-US" sz="1200" dirty="0"/>
                        <a:t>Introduces </a:t>
                      </a:r>
                      <a:r>
                        <a:rPr lang="en-US" sz="1200" b="1" dirty="0"/>
                        <a:t>Dynamic Thresholding</a:t>
                      </a:r>
                      <a:r>
                        <a:rPr lang="en-US" sz="1200" dirty="0"/>
                        <a:t> and weighted audit trails for "Accountability-by-Design."</a:t>
                      </a:r>
                      <a:endParaRPr lang="en-IN" sz="1200" dirty="0"/>
                    </a:p>
                  </a:txBody>
                  <a:tcPr/>
                </a:tc>
                <a:tc>
                  <a:txBody>
                    <a:bodyPr/>
                    <a:lstStyle/>
                    <a:p>
                      <a:r>
                        <a:rPr lang="en-US" sz="1200" dirty="0"/>
                        <a:t>High-level legal/theoretical framework; does not provide a technical implementation or code.</a:t>
                      </a:r>
                      <a:endParaRPr lang="en-IN" sz="1200" dirty="0"/>
                    </a:p>
                  </a:txBody>
                  <a:tcPr/>
                </a:tc>
                <a:tc>
                  <a:txBody>
                    <a:bodyPr/>
                    <a:lstStyle/>
                    <a:p>
                      <a:r>
                        <a:rPr lang="en-US" sz="1200" dirty="0"/>
                        <a:t>We implement the </a:t>
                      </a:r>
                      <a:r>
                        <a:rPr lang="en-US" sz="1200" b="1" dirty="0"/>
                        <a:t>Dynamic Thresholding</a:t>
                      </a:r>
                      <a:r>
                        <a:rPr lang="en-US" sz="1200" dirty="0"/>
                        <a:t> logic using Python to recalibrate "The Judge" automatically.</a:t>
                      </a:r>
                      <a:endParaRPr lang="en-IN" sz="1200" dirty="0"/>
                    </a:p>
                  </a:txBody>
                  <a:tcPr/>
                </a:tc>
                <a:extLst>
                  <a:ext uri="{0D108BD9-81ED-4DB2-BD59-A6C34878D82A}">
                    <a16:rowId xmlns:a16="http://schemas.microsoft.com/office/drawing/2014/main" val="1902561275"/>
                  </a:ext>
                </a:extLst>
              </a:tr>
              <a:tr h="1134106">
                <a:tc>
                  <a:txBody>
                    <a:bodyPr/>
                    <a:lstStyle/>
                    <a:p>
                      <a:r>
                        <a:rPr lang="en-US" sz="1200" dirty="0">
                          <a:solidFill>
                            <a:schemeClr val="tx2">
                              <a:lumMod val="50000"/>
                            </a:schemeClr>
                          </a:solidFill>
                          <a:effectLst>
                            <a:outerShdw blurRad="38100" dist="38100" dir="2700000" algn="tl">
                              <a:srgbClr val="000000">
                                <a:alpha val="43137"/>
                              </a:srgbClr>
                            </a:outerShdw>
                          </a:effectLst>
                        </a:rPr>
                        <a:t>3</a:t>
                      </a:r>
                      <a:r>
                        <a:rPr lang="en-IN" sz="1200" dirty="0" err="1"/>
                        <a:t>Nastoska</a:t>
                      </a:r>
                      <a:r>
                        <a:rPr lang="en-IN" sz="1200" dirty="0"/>
                        <a:t> et al., "Trustworthy AI: Metrics and Pillars," MDPI, 2025.</a:t>
                      </a:r>
                      <a:endParaRPr lang="en-IN" sz="1200" dirty="0">
                        <a:solidFill>
                          <a:schemeClr val="tx2">
                            <a:lumMod val="50000"/>
                          </a:schemeClr>
                        </a:solidFill>
                        <a:effectLst>
                          <a:outerShdw blurRad="38100" dist="38100" dir="2700000" algn="tl">
                            <a:srgbClr val="000000">
                              <a:alpha val="43137"/>
                            </a:srgbClr>
                          </a:outerShdw>
                        </a:effectLst>
                      </a:endParaRPr>
                    </a:p>
                  </a:txBody>
                  <a:tcPr/>
                </a:tc>
                <a:tc>
                  <a:txBody>
                    <a:bodyPr/>
                    <a:lstStyle/>
                    <a:p>
                      <a:r>
                        <a:rPr lang="en-US" sz="1200" dirty="0"/>
                        <a:t>Establishes mathematical metrics for </a:t>
                      </a:r>
                      <a:r>
                        <a:rPr lang="en-US" sz="1200" b="1" dirty="0"/>
                        <a:t>Fairness, Transparency, and Robustness.</a:t>
                      </a:r>
                      <a:endParaRPr lang="en-IN" sz="1200" dirty="0"/>
                    </a:p>
                  </a:txBody>
                  <a:tcPr/>
                </a:tc>
                <a:tc>
                  <a:txBody>
                    <a:bodyPr/>
                    <a:lstStyle/>
                    <a:p>
                      <a:r>
                        <a:rPr lang="en-US" sz="1200" dirty="0"/>
                        <a:t>Metrics are often evaluated statically after a model fails, rather than in real-time.</a:t>
                      </a:r>
                      <a:endParaRPr lang="en-IN" sz="1200" dirty="0"/>
                    </a:p>
                  </a:txBody>
                  <a:tcPr/>
                </a:tc>
                <a:tc>
                  <a:txBody>
                    <a:bodyPr/>
                    <a:lstStyle/>
                    <a:p>
                      <a:r>
                        <a:rPr lang="en-US" sz="1200" dirty="0"/>
                        <a:t>We use the </a:t>
                      </a:r>
                      <a:r>
                        <a:rPr lang="en-US" sz="1200" b="1" dirty="0"/>
                        <a:t>BDI and CCR metrics</a:t>
                      </a:r>
                      <a:r>
                        <a:rPr lang="en-US" sz="1200" dirty="0"/>
                        <a:t> from this paper for real-time monitoring via our JS/Python pipeline.</a:t>
                      </a:r>
                      <a:endParaRPr lang="en-IN" sz="1200" dirty="0"/>
                    </a:p>
                  </a:txBody>
                  <a:tcPr/>
                </a:tc>
                <a:extLst>
                  <a:ext uri="{0D108BD9-81ED-4DB2-BD59-A6C34878D82A}">
                    <a16:rowId xmlns:a16="http://schemas.microsoft.com/office/drawing/2014/main" val="2077706778"/>
                  </a:ext>
                </a:extLst>
              </a:tr>
              <a:tr h="1242380">
                <a:tc>
                  <a:txBody>
                    <a:bodyPr/>
                    <a:lstStyle/>
                    <a:p>
                      <a:r>
                        <a:rPr lang="en-US" sz="1200" dirty="0">
                          <a:solidFill>
                            <a:schemeClr val="tx2">
                              <a:lumMod val="50000"/>
                            </a:schemeClr>
                          </a:solidFill>
                          <a:effectLst>
                            <a:outerShdw blurRad="38100" dist="38100" dir="2700000" algn="tl">
                              <a:srgbClr val="000000">
                                <a:alpha val="43137"/>
                              </a:srgbClr>
                            </a:outerShdw>
                          </a:effectLst>
                        </a:rPr>
                        <a:t>4: </a:t>
                      </a:r>
                      <a:r>
                        <a:rPr lang="it-IT" sz="1200" dirty="0"/>
                        <a:t>Stanford HAI, "AI Index Report," 2025.</a:t>
                      </a:r>
                      <a:endParaRPr lang="en-IN" sz="1200" dirty="0">
                        <a:solidFill>
                          <a:schemeClr val="tx2">
                            <a:lumMod val="50000"/>
                          </a:schemeClr>
                        </a:solidFill>
                        <a:effectLst>
                          <a:outerShdw blurRad="38100" dist="38100" dir="2700000" algn="tl">
                            <a:srgbClr val="000000">
                              <a:alpha val="43137"/>
                            </a:srgbClr>
                          </a:outerShdw>
                        </a:effectLst>
                      </a:endParaRPr>
                    </a:p>
                  </a:txBody>
                  <a:tcPr/>
                </a:tc>
                <a:tc>
                  <a:txBody>
                    <a:bodyPr/>
                    <a:lstStyle/>
                    <a:p>
                      <a:r>
                        <a:rPr lang="en-US" sz="1200" dirty="0"/>
                        <a:t>Highlights the massive growth in AI deployment and the increasing risk of "model decay.</a:t>
                      </a:r>
                      <a:endParaRPr lang="en-IN" sz="1200" dirty="0"/>
                    </a:p>
                  </a:txBody>
                  <a:tcPr/>
                </a:tc>
                <a:tc>
                  <a:txBody>
                    <a:bodyPr/>
                    <a:lstStyle/>
                    <a:p>
                      <a:r>
                        <a:rPr lang="en-US" sz="1200" dirty="0"/>
                        <a:t>Identifies the problem of AI drift but does not offer a software solution to stop it.</a:t>
                      </a:r>
                      <a:endParaRPr lang="en-IN" sz="1200" dirty="0"/>
                    </a:p>
                  </a:txBody>
                  <a:tcPr/>
                </a:tc>
                <a:tc>
                  <a:txBody>
                    <a:bodyPr/>
                    <a:lstStyle/>
                    <a:p>
                      <a:r>
                        <a:rPr lang="en-US" sz="1200" dirty="0"/>
                        <a:t>We build the </a:t>
                      </a:r>
                      <a:r>
                        <a:rPr lang="en-US" sz="1200" b="1" dirty="0"/>
                        <a:t>Scale &amp; Ingestion layer</a:t>
                      </a:r>
                      <a:r>
                        <a:rPr lang="en-US" sz="1200" dirty="0"/>
                        <a:t> specifically to solve the "decay" problem for 100k+ users.</a:t>
                      </a:r>
                      <a:endParaRPr lang="en-IN" sz="1200" dirty="0"/>
                    </a:p>
                  </a:txBody>
                  <a:tcPr/>
                </a:tc>
                <a:extLst>
                  <a:ext uri="{0D108BD9-81ED-4DB2-BD59-A6C34878D82A}">
                    <a16:rowId xmlns:a16="http://schemas.microsoft.com/office/drawing/2014/main" val="255581077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156742"/>
            <a:ext cx="6779043" cy="986366"/>
          </a:xfrm>
          <a:prstGeom prst="rect">
            <a:avLst/>
          </a:prstGeom>
        </p:spPr>
        <p:txBody>
          <a:bodyPr vert="horz" wrap="square" lIns="0" tIns="172125" rIns="0" bIns="0" rtlCol="0">
            <a:spAutoFit/>
          </a:bodyPr>
          <a:lstStyle/>
          <a:p>
            <a:pPr marL="1094740">
              <a:lnSpc>
                <a:spcPct val="100000"/>
              </a:lnSpc>
              <a:spcBef>
                <a:spcPts val="100"/>
              </a:spcBef>
            </a:pPr>
            <a:r>
              <a:rPr sz="3100" dirty="0"/>
              <a:t>Proposed</a:t>
            </a:r>
            <a:r>
              <a:rPr sz="3100" spc="-60" dirty="0"/>
              <a:t> </a:t>
            </a:r>
            <a:r>
              <a:rPr sz="3100" spc="-10" dirty="0"/>
              <a:t>System/Idea</a:t>
            </a:r>
            <a:endParaRPr sz="3100" dirty="0"/>
          </a:p>
        </p:txBody>
      </p:sp>
      <p:sp>
        <p:nvSpPr>
          <p:cNvPr id="6" name="Text Placeholder 5">
            <a:extLst>
              <a:ext uri="{FF2B5EF4-FFF2-40B4-BE49-F238E27FC236}">
                <a16:creationId xmlns:a16="http://schemas.microsoft.com/office/drawing/2014/main" id="{C0AB66A6-38DF-7870-F62E-7C53331EB4E5}"/>
              </a:ext>
            </a:extLst>
          </p:cNvPr>
          <p:cNvSpPr>
            <a:spLocks noGrp="1"/>
          </p:cNvSpPr>
          <p:nvPr>
            <p:ph type="body" idx="1"/>
          </p:nvPr>
        </p:nvSpPr>
        <p:spPr>
          <a:xfrm>
            <a:off x="229419" y="768370"/>
            <a:ext cx="8903430" cy="4154984"/>
          </a:xfrm>
        </p:spPr>
        <p:txBody>
          <a:bodyPr/>
          <a:lstStyle/>
          <a:p>
            <a:r>
              <a:rPr lang="en-US" b="1" dirty="0"/>
              <a:t>Core Concept: </a:t>
            </a:r>
            <a:r>
              <a:rPr lang="en-US" dirty="0"/>
              <a:t>Real-Time Governance as a Service Our system introduces an event-driven, asynchronous platform designed to act as a "Digital Judge" for deployed AI. It bridges the gap between model deployment and accountability by monitoring the three core pillars of AI health: System Integrity, Performance, and Impact.</a:t>
            </a:r>
          </a:p>
          <a:p>
            <a:r>
              <a:rPr lang="en-US" b="1" dirty="0"/>
              <a:t>The Three-Layer Architecture</a:t>
            </a:r>
            <a:endParaRPr lang="en-US" dirty="0"/>
          </a:p>
          <a:p>
            <a:r>
              <a:rPr lang="en-US" b="1" dirty="0"/>
              <a:t>The Ingestion Gateway (Node.js):</a:t>
            </a:r>
            <a:r>
              <a:rPr lang="en-US" dirty="0"/>
              <a:t> A high-concurrency layer built to handle up to 100,000 concurrent API requests per second. It uses a "fire-and-forget" hook to log data into a Redis buffer without slowing down the user's AI performance.</a:t>
            </a:r>
          </a:p>
          <a:p>
            <a:r>
              <a:rPr lang="en-US" b="1" dirty="0"/>
              <a:t>The Auditing Engine (Python):</a:t>
            </a:r>
            <a:r>
              <a:rPr lang="en-US" dirty="0"/>
              <a:t> A background processing layer that pulls batches from the buffer to calculate the "Five Vitals." This engine is designed to solve the current industry gap where specialized engineering blueprints for high-traffic monitoring are missing.</a:t>
            </a:r>
          </a:p>
          <a:p>
            <a:r>
              <a:rPr lang="en-US" b="1" dirty="0"/>
              <a:t>The Accountability Dashboard (React):</a:t>
            </a:r>
            <a:r>
              <a:rPr lang="en-US" dirty="0"/>
              <a:t> A real-time interface that visualizes model health. If a model drifts or becomes biased, the system automatically triggers an NLP-driven Remediation Report.</a:t>
            </a:r>
          </a:p>
          <a:p>
            <a:endParaRPr lang="en-IN" dirty="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7</a:t>
            </a:fld>
            <a:endParaRPr spc="-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00" rIns="0" bIns="0" rtlCol="0">
            <a:spAutoFit/>
          </a:bodyPr>
          <a:lstStyle/>
          <a:p>
            <a:pPr marL="243840">
              <a:lnSpc>
                <a:spcPct val="100000"/>
              </a:lnSpc>
              <a:spcBef>
                <a:spcPts val="100"/>
              </a:spcBef>
            </a:pPr>
            <a:r>
              <a:rPr sz="3100" dirty="0"/>
              <a:t>Software</a:t>
            </a:r>
            <a:r>
              <a:rPr sz="3100" spc="-85" dirty="0"/>
              <a:t> </a:t>
            </a:r>
            <a:r>
              <a:rPr sz="3100" dirty="0"/>
              <a:t>and</a:t>
            </a:r>
            <a:r>
              <a:rPr sz="3100" spc="-85" dirty="0"/>
              <a:t> </a:t>
            </a:r>
            <a:r>
              <a:rPr sz="3100" dirty="0"/>
              <a:t>Hardware</a:t>
            </a:r>
            <a:r>
              <a:rPr sz="3100" spc="-85" dirty="0"/>
              <a:t> </a:t>
            </a:r>
            <a:r>
              <a:rPr sz="3100" spc="-10" dirty="0"/>
              <a:t>Requirements</a:t>
            </a:r>
            <a:endParaRPr sz="3100"/>
          </a:p>
        </p:txBody>
      </p:sp>
      <p:sp>
        <p:nvSpPr>
          <p:cNvPr id="6" name="Text Placeholder 5">
            <a:extLst>
              <a:ext uri="{FF2B5EF4-FFF2-40B4-BE49-F238E27FC236}">
                <a16:creationId xmlns:a16="http://schemas.microsoft.com/office/drawing/2014/main" id="{E6E440D2-A0F0-8E70-F9E7-1F15DBF67AB4}"/>
              </a:ext>
            </a:extLst>
          </p:cNvPr>
          <p:cNvSpPr>
            <a:spLocks noGrp="1"/>
          </p:cNvSpPr>
          <p:nvPr>
            <p:ph type="body" idx="1"/>
          </p:nvPr>
        </p:nvSpPr>
        <p:spPr>
          <a:xfrm>
            <a:off x="533400" y="971550"/>
            <a:ext cx="8229600" cy="3724096"/>
          </a:xfrm>
        </p:spPr>
        <p:txBody>
          <a:bodyPr/>
          <a:lstStyle/>
          <a:p>
            <a:r>
              <a:rPr lang="en-IN" sz="1400" b="1" dirty="0"/>
              <a:t>Development &amp; Environment</a:t>
            </a:r>
            <a:endParaRPr lang="en-IN" sz="1400" dirty="0"/>
          </a:p>
          <a:p>
            <a:r>
              <a:rPr lang="en-IN" sz="1400" b="1" dirty="0"/>
              <a:t>Languages:</a:t>
            </a:r>
            <a:r>
              <a:rPr lang="en-IN" sz="1400" dirty="0"/>
              <a:t> </a:t>
            </a:r>
            <a:r>
              <a:rPr lang="en-IN" sz="1400" b="1" dirty="0"/>
              <a:t>Node.js (v18+)</a:t>
            </a:r>
            <a:r>
              <a:rPr lang="en-IN" sz="1400" dirty="0"/>
              <a:t> for the scalable API gateway and </a:t>
            </a:r>
            <a:r>
              <a:rPr lang="en-IN" sz="1400" b="1" dirty="0"/>
              <a:t>Python (v3.10+)</a:t>
            </a:r>
            <a:r>
              <a:rPr lang="en-IN" sz="1400" dirty="0"/>
              <a:t> for the statistical "Judge" engine.</a:t>
            </a:r>
          </a:p>
          <a:p>
            <a:r>
              <a:rPr lang="en-IN" sz="1400" b="1" dirty="0"/>
              <a:t>Package Managers:</a:t>
            </a:r>
            <a:r>
              <a:rPr lang="en-IN" sz="1400" dirty="0"/>
              <a:t> </a:t>
            </a:r>
            <a:r>
              <a:rPr lang="en-IN" sz="1400" b="1" dirty="0" err="1"/>
              <a:t>npm</a:t>
            </a:r>
            <a:r>
              <a:rPr lang="en-IN" sz="1400" b="1" dirty="0"/>
              <a:t>/yarn</a:t>
            </a:r>
            <a:r>
              <a:rPr lang="en-IN" sz="1400" dirty="0"/>
              <a:t> for JavaScript dependencies and </a:t>
            </a:r>
            <a:r>
              <a:rPr lang="en-IN" sz="1400" b="1" dirty="0"/>
              <a:t>pip/</a:t>
            </a:r>
            <a:r>
              <a:rPr lang="en-IN" sz="1400" b="1" dirty="0" err="1"/>
              <a:t>conda</a:t>
            </a:r>
            <a:r>
              <a:rPr lang="en-IN" sz="1400" dirty="0"/>
              <a:t> for Python's scientific stack.</a:t>
            </a:r>
          </a:p>
          <a:p>
            <a:endParaRPr lang="en-IN" sz="1400" dirty="0"/>
          </a:p>
          <a:p>
            <a:r>
              <a:rPr lang="en-IN" sz="1400" b="1" dirty="0"/>
              <a:t>Data Engineering &amp; Storage</a:t>
            </a:r>
            <a:endParaRPr lang="en-IN" sz="1400" dirty="0"/>
          </a:p>
          <a:p>
            <a:r>
              <a:rPr lang="en-IN" sz="1400" b="1" dirty="0"/>
              <a:t>Message Broker (Buffer):</a:t>
            </a:r>
            <a:r>
              <a:rPr lang="en-IN" sz="1400" dirty="0"/>
              <a:t> </a:t>
            </a:r>
            <a:r>
              <a:rPr lang="en-IN" sz="1400" b="1" dirty="0"/>
              <a:t>Redis</a:t>
            </a:r>
            <a:r>
              <a:rPr lang="en-IN" sz="1400" dirty="0"/>
              <a:t> to act as a high-speed, in-memory "shock absorber" for the 1 lakh user traffic.</a:t>
            </a:r>
          </a:p>
          <a:p>
            <a:r>
              <a:rPr lang="en-IN" sz="1400" b="1" dirty="0"/>
              <a:t>Primary Database:</a:t>
            </a:r>
            <a:r>
              <a:rPr lang="en-IN" sz="1400" dirty="0"/>
              <a:t> PostgreSQL (with </a:t>
            </a:r>
            <a:r>
              <a:rPr lang="en-IN" sz="1400" dirty="0" err="1"/>
              <a:t>TimescaleDB</a:t>
            </a:r>
            <a:r>
              <a:rPr lang="en-IN" sz="1400" dirty="0"/>
              <a:t> extension) to store time-series metrics and permanent audit trails.</a:t>
            </a:r>
          </a:p>
          <a:p>
            <a:r>
              <a:rPr lang="en-IN" sz="1400" b="1" dirty="0"/>
              <a:t>Data Processing:</a:t>
            </a:r>
            <a:r>
              <a:rPr lang="en-IN" sz="1400" dirty="0"/>
              <a:t> </a:t>
            </a:r>
            <a:r>
              <a:rPr lang="en-IN" sz="1400" b="1" dirty="0"/>
              <a:t>Pandas</a:t>
            </a:r>
            <a:r>
              <a:rPr lang="en-IN" sz="1400" dirty="0"/>
              <a:t> and </a:t>
            </a:r>
            <a:r>
              <a:rPr lang="en-IN" sz="1400" b="1" dirty="0"/>
              <a:t>NumPy</a:t>
            </a:r>
            <a:r>
              <a:rPr lang="en-IN" sz="1400" dirty="0"/>
              <a:t> for calculating the "Five Vitals" like PSI and BDI.</a:t>
            </a:r>
          </a:p>
          <a:p>
            <a:endParaRPr lang="en-IN" sz="1400" dirty="0"/>
          </a:p>
          <a:p>
            <a:r>
              <a:rPr lang="en-IN" sz="1400" b="1" dirty="0"/>
              <a:t>Backend &amp; Communication</a:t>
            </a:r>
            <a:endParaRPr lang="en-IN" sz="1400" dirty="0"/>
          </a:p>
          <a:p>
            <a:r>
              <a:rPr lang="en-IN" sz="1400" b="1" dirty="0"/>
              <a:t>Web Frameworks:</a:t>
            </a:r>
            <a:r>
              <a:rPr lang="en-IN" sz="1400" dirty="0"/>
              <a:t> </a:t>
            </a:r>
            <a:r>
              <a:rPr lang="en-IN" sz="1400" b="1" dirty="0"/>
              <a:t>Express.js (Node.js)</a:t>
            </a:r>
            <a:r>
              <a:rPr lang="en-IN" sz="1400" dirty="0"/>
              <a:t> for the ingestion hook and </a:t>
            </a:r>
            <a:r>
              <a:rPr lang="en-IN" sz="1400" b="1" dirty="0" err="1"/>
              <a:t>FastAPI</a:t>
            </a:r>
            <a:r>
              <a:rPr lang="en-IN" sz="1400" dirty="0"/>
              <a:t> for the Python-based suggestion engine.</a:t>
            </a:r>
          </a:p>
          <a:p>
            <a:r>
              <a:rPr lang="en-IN" sz="1400" b="1" dirty="0"/>
              <a:t>Real-Time Updates:</a:t>
            </a:r>
            <a:r>
              <a:rPr lang="en-IN" sz="1400" dirty="0"/>
              <a:t> </a:t>
            </a:r>
            <a:r>
              <a:rPr lang="en-IN" sz="1400" b="1" dirty="0"/>
              <a:t>Socket.io (</a:t>
            </a:r>
            <a:r>
              <a:rPr lang="en-IN" sz="1400" b="1" dirty="0" err="1"/>
              <a:t>WebSockets</a:t>
            </a:r>
            <a:r>
              <a:rPr lang="en-IN" sz="1400" b="1" dirty="0"/>
              <a:t>)</a:t>
            </a:r>
            <a:r>
              <a:rPr lang="en-IN" sz="1400" dirty="0"/>
              <a:t> to push "Judge" alerts instantly from the backend to the React dashboard.</a:t>
            </a:r>
          </a:p>
          <a:p>
            <a:r>
              <a:rPr lang="en-IN" sz="1400" b="1" dirty="0"/>
              <a:t>NLP Engine:</a:t>
            </a:r>
            <a:r>
              <a:rPr lang="en-IN" sz="1400" dirty="0"/>
              <a:t> </a:t>
            </a:r>
            <a:r>
              <a:rPr lang="en-IN" sz="1400" b="1" dirty="0"/>
              <a:t>Hugging Face Transformers (T5-Small)</a:t>
            </a:r>
            <a:r>
              <a:rPr lang="en-IN" sz="1400" dirty="0"/>
              <a:t> for generating automated remediation reports.</a:t>
            </a:r>
          </a:p>
          <a:p>
            <a:endParaRPr lang="en-IN" b="1" dirty="0">
              <a:solidFill>
                <a:srgbClr val="002060"/>
              </a:solidFill>
            </a:endParaRP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8</a:t>
            </a:fld>
            <a:endParaRPr spc="-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1390" y="-28447"/>
            <a:ext cx="1753235" cy="497840"/>
          </a:xfrm>
          <a:prstGeom prst="rect">
            <a:avLst/>
          </a:prstGeom>
        </p:spPr>
        <p:txBody>
          <a:bodyPr vert="horz" wrap="square" lIns="0" tIns="12700" rIns="0" bIns="0" rtlCol="0">
            <a:spAutoFit/>
          </a:bodyPr>
          <a:lstStyle/>
          <a:p>
            <a:pPr marL="12700">
              <a:lnSpc>
                <a:spcPct val="100000"/>
              </a:lnSpc>
              <a:spcBef>
                <a:spcPts val="100"/>
              </a:spcBef>
            </a:pPr>
            <a:r>
              <a:rPr sz="3100" spc="-10" dirty="0"/>
              <a:t>Flowchart</a:t>
            </a:r>
            <a:endParaRPr sz="31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76200">
              <a:lnSpc>
                <a:spcPts val="955"/>
              </a:lnSpc>
            </a:pPr>
            <a:fld id="{81D60167-4931-47E6-BA6A-407CBD079E47}" type="slidenum">
              <a:rPr spc="-50" dirty="0"/>
              <a:t>9</a:t>
            </a:fld>
            <a:endParaRPr spc="-50" dirty="0"/>
          </a:p>
        </p:txBody>
      </p:sp>
      <p:sp>
        <p:nvSpPr>
          <p:cNvPr id="3" name="object 3"/>
          <p:cNvSpPr txBox="1"/>
          <p:nvPr/>
        </p:nvSpPr>
        <p:spPr>
          <a:xfrm>
            <a:off x="3997325" y="4625021"/>
            <a:ext cx="410209" cy="223520"/>
          </a:xfrm>
          <a:prstGeom prst="rect">
            <a:avLst/>
          </a:prstGeom>
        </p:spPr>
        <p:txBody>
          <a:bodyPr vert="horz" wrap="square" lIns="0" tIns="12700" rIns="0" bIns="0" rtlCol="0">
            <a:spAutoFit/>
          </a:bodyPr>
          <a:lstStyle/>
          <a:p>
            <a:pPr marL="12700">
              <a:lnSpc>
                <a:spcPct val="100000"/>
              </a:lnSpc>
              <a:spcBef>
                <a:spcPts val="100"/>
              </a:spcBef>
            </a:pPr>
            <a:r>
              <a:rPr sz="1300" b="1" dirty="0">
                <a:solidFill>
                  <a:srgbClr val="595959"/>
                </a:solidFill>
                <a:latin typeface="Arial"/>
                <a:cs typeface="Arial"/>
              </a:rPr>
              <a:t>Fig</a:t>
            </a:r>
            <a:r>
              <a:rPr sz="1300" b="1" spc="-35" dirty="0">
                <a:solidFill>
                  <a:srgbClr val="595959"/>
                </a:solidFill>
                <a:latin typeface="Arial"/>
                <a:cs typeface="Arial"/>
              </a:rPr>
              <a:t> </a:t>
            </a:r>
            <a:r>
              <a:rPr sz="1300" b="1" spc="-50" dirty="0">
                <a:solidFill>
                  <a:srgbClr val="595959"/>
                </a:solidFill>
                <a:latin typeface="Arial"/>
                <a:cs typeface="Arial"/>
              </a:rPr>
              <a:t>1</a:t>
            </a:r>
            <a:endParaRPr sz="1300" dirty="0">
              <a:latin typeface="Arial"/>
              <a:cs typeface="Arial"/>
            </a:endParaRPr>
          </a:p>
        </p:txBody>
      </p:sp>
      <p:pic>
        <p:nvPicPr>
          <p:cNvPr id="9" name="Picture 8">
            <a:extLst>
              <a:ext uri="{FF2B5EF4-FFF2-40B4-BE49-F238E27FC236}">
                <a16:creationId xmlns:a16="http://schemas.microsoft.com/office/drawing/2014/main" id="{9A8FCF21-9FA3-4180-9869-52E5FFD400E2}"/>
              </a:ext>
            </a:extLst>
          </p:cNvPr>
          <p:cNvPicPr>
            <a:picLocks noChangeAspect="1"/>
          </p:cNvPicPr>
          <p:nvPr/>
        </p:nvPicPr>
        <p:blipFill>
          <a:blip r:embed="rId2"/>
          <a:stretch>
            <a:fillRect/>
          </a:stretch>
        </p:blipFill>
        <p:spPr>
          <a:xfrm>
            <a:off x="1289882" y="550745"/>
            <a:ext cx="7061638" cy="4335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171450"/>
            <a:ext cx="6779043" cy="986366"/>
          </a:xfrm>
          <a:prstGeom prst="rect">
            <a:avLst/>
          </a:prstGeom>
        </p:spPr>
        <p:txBody>
          <a:bodyPr vert="horz" wrap="square" lIns="0" tIns="333626" rIns="0" bIns="0" rtlCol="0">
            <a:spAutoFit/>
          </a:bodyPr>
          <a:lstStyle/>
          <a:p>
            <a:pPr marL="13970">
              <a:lnSpc>
                <a:spcPct val="100000"/>
              </a:lnSpc>
              <a:spcBef>
                <a:spcPts val="100"/>
              </a:spcBef>
            </a:pPr>
            <a:r>
              <a:rPr sz="3200" dirty="0"/>
              <a:t>System</a:t>
            </a:r>
            <a:r>
              <a:rPr sz="3200" spc="-65" dirty="0"/>
              <a:t> </a:t>
            </a:r>
            <a:r>
              <a:rPr sz="3200" dirty="0"/>
              <a:t>Design</a:t>
            </a:r>
            <a:r>
              <a:rPr sz="3200" spc="-65" dirty="0"/>
              <a:t> </a:t>
            </a:r>
            <a:r>
              <a:rPr sz="3200" dirty="0"/>
              <a:t>and</a:t>
            </a:r>
            <a:r>
              <a:rPr sz="3200" spc="-65" dirty="0"/>
              <a:t> </a:t>
            </a:r>
            <a:r>
              <a:rPr sz="3200" spc="-10" dirty="0"/>
              <a:t>Implementation</a:t>
            </a:r>
            <a:endParaRPr sz="3200" dirty="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25400">
              <a:lnSpc>
                <a:spcPts val="955"/>
              </a:lnSpc>
            </a:pPr>
            <a:r>
              <a:rPr spc="-10" dirty="0"/>
              <a:t>Computer</a:t>
            </a:r>
            <a:r>
              <a:rPr spc="5" dirty="0"/>
              <a:t> </a:t>
            </a:r>
            <a:r>
              <a:rPr spc="-10" dirty="0"/>
              <a:t>Engineering</a:t>
            </a:r>
            <a:r>
              <a:rPr spc="5" dirty="0"/>
              <a:t> </a:t>
            </a:r>
            <a:r>
              <a:rPr spc="-10" dirty="0"/>
              <a:t>Department</a:t>
            </a:r>
          </a:p>
        </p:txBody>
      </p:sp>
      <p:sp>
        <p:nvSpPr>
          <p:cNvPr id="5" name="object 5"/>
          <p:cNvSpPr txBox="1"/>
          <p:nvPr/>
        </p:nvSpPr>
        <p:spPr>
          <a:xfrm>
            <a:off x="8377249" y="4862099"/>
            <a:ext cx="141605" cy="139700"/>
          </a:xfrm>
          <a:prstGeom prst="rect">
            <a:avLst/>
          </a:prstGeom>
        </p:spPr>
        <p:txBody>
          <a:bodyPr vert="horz" wrap="square" lIns="0" tIns="0" rIns="0" bIns="0" rtlCol="0">
            <a:spAutoFit/>
          </a:bodyPr>
          <a:lstStyle/>
          <a:p>
            <a:pPr marL="12700">
              <a:lnSpc>
                <a:spcPts val="955"/>
              </a:lnSpc>
            </a:pPr>
            <a:r>
              <a:rPr sz="900" spc="-25" dirty="0">
                <a:solidFill>
                  <a:srgbClr val="888888"/>
                </a:solidFill>
                <a:latin typeface="Calibri"/>
                <a:cs typeface="Calibri"/>
              </a:rPr>
              <a:t>10</a:t>
            </a:r>
            <a:endParaRPr sz="900">
              <a:latin typeface="Calibri"/>
              <a:cs typeface="Calibri"/>
            </a:endParaRPr>
          </a:p>
        </p:txBody>
      </p:sp>
      <p:pic>
        <p:nvPicPr>
          <p:cNvPr id="7" name="Picture 6">
            <a:extLst>
              <a:ext uri="{FF2B5EF4-FFF2-40B4-BE49-F238E27FC236}">
                <a16:creationId xmlns:a16="http://schemas.microsoft.com/office/drawing/2014/main" id="{B0BBC96A-C74C-6062-DA31-0A9FC5C484A3}"/>
              </a:ext>
            </a:extLst>
          </p:cNvPr>
          <p:cNvPicPr>
            <a:picLocks noChangeAspect="1"/>
          </p:cNvPicPr>
          <p:nvPr/>
        </p:nvPicPr>
        <p:blipFill>
          <a:blip r:embed="rId2"/>
          <a:stretch>
            <a:fillRect/>
          </a:stretch>
        </p:blipFill>
        <p:spPr>
          <a:xfrm>
            <a:off x="1143000" y="811766"/>
            <a:ext cx="7619999" cy="40534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658" rIns="0" bIns="0" rtlCol="0">
            <a:spAutoFit/>
          </a:bodyPr>
          <a:lstStyle/>
          <a:p>
            <a:pPr marL="1563370">
              <a:lnSpc>
                <a:spcPct val="100000"/>
              </a:lnSpc>
              <a:spcBef>
                <a:spcPts val="100"/>
              </a:spcBef>
            </a:pPr>
            <a:r>
              <a:rPr sz="3000" dirty="0"/>
              <a:t>Results</a:t>
            </a:r>
            <a:r>
              <a:rPr sz="3000" spc="-35" dirty="0"/>
              <a:t> </a:t>
            </a:r>
            <a:r>
              <a:rPr sz="3000" dirty="0"/>
              <a:t>&amp;</a:t>
            </a:r>
            <a:r>
              <a:rPr sz="3000" spc="-25" dirty="0"/>
              <a:t> </a:t>
            </a:r>
            <a:r>
              <a:rPr sz="3000" spc="-10" dirty="0"/>
              <a:t>Conclusion</a:t>
            </a:r>
            <a:endParaRPr sz="3000"/>
          </a:p>
        </p:txBody>
      </p:sp>
      <p:sp>
        <p:nvSpPr>
          <p:cNvPr id="6" name="Text Placeholder 5">
            <a:extLst>
              <a:ext uri="{FF2B5EF4-FFF2-40B4-BE49-F238E27FC236}">
                <a16:creationId xmlns:a16="http://schemas.microsoft.com/office/drawing/2014/main" id="{058B3F68-963A-2195-17C3-193FBBF01193}"/>
              </a:ext>
            </a:extLst>
          </p:cNvPr>
          <p:cNvSpPr>
            <a:spLocks noGrp="1"/>
          </p:cNvSpPr>
          <p:nvPr>
            <p:ph type="body" idx="1"/>
          </p:nvPr>
        </p:nvSpPr>
        <p:spPr>
          <a:xfrm>
            <a:off x="457200" y="1183005"/>
            <a:ext cx="8229600" cy="3046988"/>
          </a:xfrm>
        </p:spPr>
        <p:txBody>
          <a:bodyPr/>
          <a:lstStyle/>
          <a:p>
            <a:r>
              <a:rPr lang="en-US" dirty="0"/>
              <a:t>The </a:t>
            </a:r>
            <a:r>
              <a:rPr lang="en-US" b="1" dirty="0"/>
              <a:t>Guardrail AI</a:t>
            </a:r>
            <a:r>
              <a:rPr lang="en-US" dirty="0"/>
              <a:t> platform successfully addresses the critical "set-and-forget" crisis in machine learning by moving from static, manual oversight to a system of </a:t>
            </a:r>
            <a:r>
              <a:rPr lang="en-US" b="1" dirty="0"/>
              <a:t>Adaptive AI Governance</a:t>
            </a:r>
            <a:r>
              <a:rPr lang="en-US" dirty="0"/>
              <a:t>. By utilizing a high-concurrency </a:t>
            </a:r>
            <a:r>
              <a:rPr lang="en-US" b="1" dirty="0"/>
              <a:t>polyglot architecture</a:t>
            </a:r>
            <a:r>
              <a:rPr lang="en-US" dirty="0"/>
              <a:t> that combines the ingestion speed of </a:t>
            </a:r>
            <a:r>
              <a:rPr lang="en-US" b="1" dirty="0"/>
              <a:t>Node.js</a:t>
            </a:r>
            <a:r>
              <a:rPr lang="en-US" dirty="0"/>
              <a:t> with the mathematical depth of </a:t>
            </a:r>
            <a:r>
              <a:rPr lang="en-US" b="1" dirty="0"/>
              <a:t>Python</a:t>
            </a:r>
            <a:r>
              <a:rPr lang="en-US" dirty="0"/>
              <a:t>, the system maintains real-time accountability for enterprise-scale environments supporting up to </a:t>
            </a:r>
            <a:r>
              <a:rPr lang="en-US" b="1" dirty="0"/>
              <a:t>1 lakh concurrent users</a:t>
            </a:r>
            <a:r>
              <a:rPr lang="en-US" dirty="0"/>
              <a:t>. Our implementation of </a:t>
            </a:r>
            <a:r>
              <a:rPr lang="en-US" b="1" dirty="0"/>
              <a:t>Dynamic Thresholding</a:t>
            </a:r>
            <a:r>
              <a:rPr lang="en-US" dirty="0"/>
              <a:t> and the </a:t>
            </a:r>
            <a:r>
              <a:rPr lang="en-US" b="1" dirty="0"/>
              <a:t>"Five Vitals"</a:t>
            </a:r>
            <a:r>
              <a:rPr lang="en-US" dirty="0"/>
              <a:t> metrics ensures that model decay, bias, and uncertainty are detected the moment they occur. Ultimately, by closing the loop with </a:t>
            </a:r>
            <a:r>
              <a:rPr lang="en-US" b="1" dirty="0"/>
              <a:t>NLP-driven remediation reports</a:t>
            </a:r>
            <a:r>
              <a:rPr lang="en-US" dirty="0"/>
              <a:t>, we provide a transparent audit trail that transforms complex failures into actionable insights, ensuring AI systems remain fair, stable, and trustworthy in a rapidly evolving digital landscape.</a:t>
            </a:r>
            <a:endParaRPr lang="en-IN" dirty="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955"/>
              </a:lnSpc>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1108" rIns="0" bIns="0" rtlCol="0">
            <a:spAutoFit/>
          </a:bodyPr>
          <a:lstStyle/>
          <a:p>
            <a:pPr marL="2619375">
              <a:lnSpc>
                <a:spcPct val="100000"/>
              </a:lnSpc>
              <a:spcBef>
                <a:spcPts val="100"/>
              </a:spcBef>
            </a:pPr>
            <a:r>
              <a:rPr sz="3000" spc="-10" dirty="0"/>
              <a:t>References</a:t>
            </a:r>
            <a:endParaRPr sz="300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955"/>
              </a:lnSpc>
            </a:pPr>
            <a:fld id="{81D60167-4931-47E6-BA6A-407CBD079E47}" type="slidenum">
              <a:rPr spc="-25" dirty="0"/>
              <a:t>12</a:t>
            </a:fld>
            <a:endParaRPr spc="-25" dirty="0"/>
          </a:p>
        </p:txBody>
      </p:sp>
      <p:sp>
        <p:nvSpPr>
          <p:cNvPr id="8" name="Rectangle 2">
            <a:extLst>
              <a:ext uri="{FF2B5EF4-FFF2-40B4-BE49-F238E27FC236}">
                <a16:creationId xmlns:a16="http://schemas.microsoft.com/office/drawing/2014/main" id="{D137190F-2386-6E0F-886D-0B7F454ACD2A}"/>
              </a:ext>
            </a:extLst>
          </p:cNvPr>
          <p:cNvSpPr>
            <a:spLocks noGrp="1" noChangeArrowheads="1"/>
          </p:cNvSpPr>
          <p:nvPr>
            <p:ph type="body" idx="1"/>
          </p:nvPr>
        </p:nvSpPr>
        <p:spPr bwMode="auto">
          <a:xfrm>
            <a:off x="228600" y="971550"/>
            <a:ext cx="868680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Keyes, O., et al. (2025).</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1" u="none" strike="noStrike" cap="none" normalizeH="0" baseline="0" dirty="0">
                <a:ln>
                  <a:noFill/>
                </a:ln>
                <a:solidFill>
                  <a:schemeClr val="tx1"/>
                </a:solidFill>
                <a:effectLst/>
                <a:latin typeface="Arial" panose="020B0604020202020204" pitchFamily="34" charset="0"/>
              </a:rPr>
              <a:t>The Health Framework for AI: Defining System Integrity, Performance, and Impact Pillars.</a:t>
            </a:r>
            <a:r>
              <a:rPr kumimoji="0" lang="en-US" altLang="en-US" sz="1600" b="0" i="0" u="none" strike="noStrike" cap="none" normalizeH="0" baseline="0" dirty="0">
                <a:ln>
                  <a:noFill/>
                </a:ln>
                <a:solidFill>
                  <a:schemeClr val="tx1"/>
                </a:solidFill>
                <a:effectLst/>
                <a:latin typeface="Arial" panose="020B0604020202020204" pitchFamily="34" charset="0"/>
              </a:rPr>
              <a:t> Stanford University Press.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Kaal, W. A. (2024).</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1" u="none" strike="noStrike" cap="none" normalizeH="0" baseline="0" dirty="0">
                <a:ln>
                  <a:noFill/>
                </a:ln>
                <a:solidFill>
                  <a:schemeClr val="tx1"/>
                </a:solidFill>
                <a:effectLst/>
                <a:latin typeface="Arial" panose="020B0604020202020204" pitchFamily="34" charset="0"/>
              </a:rPr>
              <a:t>Anticipatory Corporate Governance: Dynamic Thresholding and Accountability-by-Design in AI Lifecycles.</a:t>
            </a:r>
            <a:r>
              <a:rPr kumimoji="0" lang="en-US" altLang="en-US" sz="1600" b="0" i="0" u="none" strike="noStrike" cap="none" normalizeH="0" baseline="0" dirty="0">
                <a:ln>
                  <a:noFill/>
                </a:ln>
                <a:solidFill>
                  <a:schemeClr val="tx1"/>
                </a:solidFill>
                <a:effectLst/>
                <a:latin typeface="Arial" panose="020B0604020202020204" pitchFamily="34" charset="0"/>
              </a:rPr>
              <a:t> SSRN.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Nastoska</a:t>
            </a:r>
            <a:r>
              <a:rPr kumimoji="0" lang="en-US" altLang="en-US" sz="1600" b="1" i="0" u="none" strike="noStrike" cap="none" normalizeH="0" baseline="0" dirty="0">
                <a:ln>
                  <a:noFill/>
                </a:ln>
                <a:solidFill>
                  <a:schemeClr val="tx1"/>
                </a:solidFill>
                <a:effectLst/>
                <a:latin typeface="Arial" panose="020B0604020202020204" pitchFamily="34" charset="0"/>
              </a:rPr>
              <a:t>, S., et al. (2025).</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1" u="none" strike="noStrike" cap="none" normalizeH="0" baseline="0" dirty="0">
                <a:ln>
                  <a:noFill/>
                </a:ln>
                <a:solidFill>
                  <a:schemeClr val="tx1"/>
                </a:solidFill>
                <a:effectLst/>
                <a:latin typeface="Arial" panose="020B0604020202020204" pitchFamily="34" charset="0"/>
              </a:rPr>
              <a:t>Trustworthy AI: Mathematical Metrics for Fairness, Transparency, and Robustness.</a:t>
            </a:r>
            <a:r>
              <a:rPr kumimoji="0" lang="en-US" altLang="en-US" sz="1600" b="0" i="0" u="none" strike="noStrike" cap="none" normalizeH="0" baseline="0" dirty="0">
                <a:ln>
                  <a:noFill/>
                </a:ln>
                <a:solidFill>
                  <a:schemeClr val="tx1"/>
                </a:solidFill>
                <a:effectLst/>
                <a:latin typeface="Arial" panose="020B0604020202020204" pitchFamily="34" charset="0"/>
              </a:rPr>
              <a:t> MDPI - Journal of Sensor and Actuator Networks.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Stanford Institute for Human-Centered AI (HAI). (</a:t>
            </a:r>
            <a:r>
              <a:rPr kumimoji="0" lang="en-US" altLang="en-US" sz="1200" b="1" i="0" u="none" strike="noStrike" cap="none" normalizeH="0" baseline="0" dirty="0">
                <a:ln>
                  <a:noFill/>
                </a:ln>
                <a:solidFill>
                  <a:schemeClr val="tx1"/>
                </a:solidFill>
                <a:effectLst/>
                <a:latin typeface="Arial" panose="020B0604020202020204" pitchFamily="34" charset="0"/>
              </a:rPr>
              <a:t>2025</a:t>
            </a:r>
            <a:r>
              <a:rPr kumimoji="0" lang="en-US" altLang="en-US" sz="1600" b="1"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1" u="none" strike="noStrike" cap="none" normalizeH="0" baseline="0" dirty="0">
                <a:ln>
                  <a:noFill/>
                </a:ln>
                <a:solidFill>
                  <a:schemeClr val="tx1"/>
                </a:solidFill>
                <a:effectLst/>
                <a:latin typeface="Arial" panose="020B0604020202020204" pitchFamily="34" charset="0"/>
              </a:rPr>
              <a:t>2025 AI Index Report: Tracking Model Decay and the Rise of Deployed AI Risks.</a:t>
            </a:r>
            <a:r>
              <a:rPr kumimoji="0" lang="en-US" altLang="en-US" sz="1600" b="0" i="0" u="none" strike="noStrike" cap="none" normalizeH="0" baseline="0" dirty="0">
                <a:ln>
                  <a:noFill/>
                </a:ln>
                <a:solidFill>
                  <a:schemeClr val="tx1"/>
                </a:solidFill>
                <a:effectLst/>
                <a:latin typeface="Arial" panose="020B0604020202020204" pitchFamily="34" charset="0"/>
              </a:rPr>
              <a:t> Stanford University.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Zhu, L., et al. (2026).</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1" u="none" strike="noStrike" cap="none" normalizeH="0" baseline="0" dirty="0">
                <a:ln>
                  <a:noFill/>
                </a:ln>
                <a:solidFill>
                  <a:schemeClr val="tx1"/>
                </a:solidFill>
                <a:effectLst/>
                <a:latin typeface="Arial" panose="020B0604020202020204" pitchFamily="34" charset="0"/>
              </a:rPr>
              <a:t>Scaling Governance: High-Concurrency Ingestion Patterns for Real-Time Model Monitoring.</a:t>
            </a:r>
            <a:r>
              <a:rPr kumimoji="0" lang="en-US" altLang="en-US" sz="1600" b="0" i="0" u="none" strike="noStrike" cap="none" normalizeH="0" baseline="0" dirty="0">
                <a:ln>
                  <a:noFill/>
                </a:ln>
                <a:solidFill>
                  <a:schemeClr val="tx1"/>
                </a:solidFill>
                <a:effectLst/>
                <a:latin typeface="Arial" panose="020B0604020202020204" pitchFamily="34" charset="0"/>
              </a:rPr>
              <a:t> Journal of Systems and Software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2875" y="2066002"/>
            <a:ext cx="2834640" cy="497840"/>
          </a:xfrm>
          <a:prstGeom prst="rect">
            <a:avLst/>
          </a:prstGeom>
        </p:spPr>
        <p:txBody>
          <a:bodyPr vert="horz" wrap="square" lIns="0" tIns="12700" rIns="0" bIns="0" rtlCol="0">
            <a:spAutoFit/>
          </a:bodyPr>
          <a:lstStyle/>
          <a:p>
            <a:pPr marL="12700">
              <a:lnSpc>
                <a:spcPct val="100000"/>
              </a:lnSpc>
              <a:spcBef>
                <a:spcPts val="100"/>
              </a:spcBef>
            </a:pPr>
            <a:r>
              <a:rPr sz="3100" u="none" dirty="0"/>
              <a:t>THANK</a:t>
            </a:r>
            <a:r>
              <a:rPr sz="3100" u="none" spc="-25" dirty="0"/>
              <a:t> </a:t>
            </a:r>
            <a:r>
              <a:rPr sz="3100" u="none" spc="-10" dirty="0"/>
              <a:t>YOU!!!</a:t>
            </a:r>
            <a:endParaRPr sz="3100"/>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spc="-10" dirty="0"/>
              <a:t>7/30/2025</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955"/>
              </a:lnSpc>
            </a:pPr>
            <a:r>
              <a:rPr spc="-10" dirty="0"/>
              <a:t>Computer</a:t>
            </a:r>
            <a:r>
              <a:rPr spc="5" dirty="0"/>
              <a:t> </a:t>
            </a:r>
            <a:r>
              <a:rPr spc="-10" dirty="0"/>
              <a:t>Engineering</a:t>
            </a:r>
            <a:r>
              <a:rPr spc="5" dirty="0"/>
              <a:t> </a:t>
            </a:r>
            <a:r>
              <a:rPr spc="-10" dirty="0"/>
              <a:t>Department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955"/>
              </a:lnSpc>
            </a:pPr>
            <a:fld id="{81D60167-4931-47E6-BA6A-407CBD079E47}" type="slidenum">
              <a:rPr spc="-25" dirty="0"/>
              <a:t>13</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385</TotalTime>
  <Words>1510</Words>
  <Application>Microsoft Office PowerPoint</Application>
  <PresentationFormat>On-screen Show (16:9)</PresentationFormat>
  <Paragraphs>129</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SimSun-ExtB</vt:lpstr>
      <vt:lpstr>Aptos</vt:lpstr>
      <vt:lpstr>Arial</vt:lpstr>
      <vt:lpstr>Calibri</vt:lpstr>
      <vt:lpstr>Times New Roman</vt:lpstr>
      <vt:lpstr>Office Theme</vt:lpstr>
      <vt:lpstr>Department of Computer Engineering Academic Year 2025-2026 (Odd Sem)</vt:lpstr>
      <vt:lpstr>Outline of Project</vt:lpstr>
      <vt:lpstr>Introduction</vt:lpstr>
      <vt:lpstr>Problem Statement</vt:lpstr>
      <vt:lpstr>Objective and Scope</vt:lpstr>
      <vt:lpstr>Literature Survey</vt:lpstr>
      <vt:lpstr>Proposed System/Idea</vt:lpstr>
      <vt:lpstr>Software and Hardware Requirements</vt:lpstr>
      <vt:lpstr>Flowchart</vt:lpstr>
      <vt:lpstr>System Design and Implementation</vt:lpstr>
      <vt:lpstr>Results &amp; 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ARYA SHEWALE</dc:creator>
  <cp:lastModifiedBy>Qudsiya Siddique</cp:lastModifiedBy>
  <cp:revision>2</cp:revision>
  <dcterms:created xsi:type="dcterms:W3CDTF">2026-01-25T14:31:06Z</dcterms:created>
  <dcterms:modified xsi:type="dcterms:W3CDTF">2026-01-26T13:17:48Z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2026-01-25T00:00:00Z</vt:filetime>
  </property>
  <property fmtid="{D5CDD505-2E9C-101B-9397-08002B2CF9AE}" pid="3" name="Creator">
    <vt:lpwstr>Google</vt:lpwstr>
  </property>
  <property fmtid="{D5CDD505-2E9C-101B-9397-08002B2CF9AE}" pid="4" name="LastSaved">
    <vt:filetime>2026-01-25T00:00:00Z</vt:filetime>
  </property>
</Properties>
</file>